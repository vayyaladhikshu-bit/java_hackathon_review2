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2" r:id="rId7"/>
    <p:sldId id="263" r:id="rId8"/>
    <p:sldId id="264" r:id="rId9"/>
    <p:sldId id="261" r:id="rId10"/>
    <p:sldId id="265" r:id="rId11"/>
  </p:sldIdLst>
  <p:sldSz cx="12192000" cy="6858000"/>
  <p:notesSz cx="6858000" cy="12192000"/>
  <p:embeddedFontLst>
    <p:embeddedFont>
      <p:font typeface="Krona One" panose="020B0604020202020204" charset="0"/>
      <p:regular r:id="rId13"/>
    </p:embeddedFont>
    <p:embeddedFont>
      <p:font typeface="Space Grotesk" panose="020B0604020202020204" charset="0"/>
      <p:regular r:id="rId14"/>
    </p:embeddedFont>
    <p:embeddedFont>
      <p:font typeface="Space Grotesk Bold" panose="020B0604020202020204" charset="0"/>
      <p:regular r:id="rId15"/>
    </p:embeddedFont>
    <p:embeddedFont>
      <p:font typeface="Space Grotesk SemiBold" panose="020B0604020202020204" charset="0"/>
      <p:regular r:id="rId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777961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the Cinema Seat Booking System as a local Java console application. This presentation explains the problem, the project goals, the development process, and how the system works.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focuses on the basic booking journey. A user does not need a complex interface: the console presents the available operations and responds to each choice.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objectives guided the design of the program: make seat status visible, keep booking actions simple, avoid duplicate selections, and make cancellation possible.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advantage is clarity. The user sees the available action, receives a response, and can continue or return to the menu without handling a paper list or separate record.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boundaries are part of the current version. The program runs locally, uses a console interface, does not connect to a database or payment service, and does not preserve records after execution ends.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Development moved from understanding the problem to implementing the booking logic, then checking how the program responds to different user actions. Testing and debugging helped improve the flow.</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confirmed project basics are shown here: Java and console-based execution. The two marked areas are intentionally editable placeholders for real Java console output supplied by the team.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did not confirm the exact Java concepts used by the team. These placeholders protect the accuracy of the presentation and can be replaced with the team’s verified concepts and explanations.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future scope follows directly from the limitations. A next version could add a visual interface, permanent data, user accounts, online payment, show selection, live availability, and generated tickets.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workflow starts with the menu and ends only when the user exits. Each operation is validated, the booking information is updated when needed, and the result is shown before the user returns to the menu.</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D9CFB8"/>
          </a:solidFill>
          <a:ln/>
        </p:spPr>
      </p:sp>
      <p:sp>
        <p:nvSpPr>
          <p:cNvPr id="3" name="Shape 1"/>
          <p:cNvSpPr/>
          <p:nvPr/>
        </p:nvSpPr>
        <p:spPr>
          <a:xfrm>
            <a:off x="0" y="0"/>
            <a:ext cx="12191695" cy="6858000"/>
          </a:xfrm>
          <a:prstGeom prst="rect">
            <a:avLst/>
          </a:prstGeom>
          <a:solidFill>
            <a:srgbClr val="2E2F0E"/>
          </a:solidFill>
          <a:ln/>
        </p:spPr>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D9CFB8"/>
          </a:solidFill>
          <a:ln/>
        </p:spPr>
      </p:sp>
      <p:sp>
        <p:nvSpPr>
          <p:cNvPr id="3" name="Shape 1"/>
          <p:cNvSpPr/>
          <p:nvPr/>
        </p:nvSpPr>
        <p:spPr>
          <a:xfrm>
            <a:off x="0" y="0"/>
            <a:ext cx="12191695" cy="6858000"/>
          </a:xfrm>
          <a:prstGeom prst="rect">
            <a:avLst/>
          </a:prstGeom>
          <a:solidFill>
            <a:srgbClr val="F2E6D2"/>
          </a:solidFill>
          <a:ln/>
        </p:spPr>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4.jp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4.jp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8" Type="http://schemas.openxmlformats.org/officeDocument/2006/relationships/image" Target="../media/image4.jpg"/><Relationship Id="rId3" Type="http://schemas.openxmlformats.org/officeDocument/2006/relationships/image" Target="../media/image7.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4.jp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4.jp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4.jp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4.jpg"/><Relationship Id="rId5" Type="http://schemas.openxmlformats.org/officeDocument/2006/relationships/image" Target="../media/image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4.jp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4.jp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4.jp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19.png"/><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11182" y="2216249"/>
            <a:ext cx="6705432" cy="213320"/>
          </a:xfrm>
          <a:prstGeom prst="rect">
            <a:avLst/>
          </a:prstGeom>
          <a:noFill/>
          <a:ln/>
        </p:spPr>
        <p:txBody>
          <a:bodyPr wrap="none" lIns="0" tIns="0" rIns="0" bIns="0" rtlCol="0" anchor="t"/>
          <a:lstStyle/>
          <a:p>
            <a:pPr marL="0" indent="0" algn="l">
              <a:lnSpc>
                <a:spcPct val="100000"/>
              </a:lnSpc>
              <a:buNone/>
            </a:pPr>
            <a:r>
              <a:rPr lang="en-US" sz="1400" kern="0" spc="70" dirty="0">
                <a:solidFill>
                  <a:srgbClr val="B7AC55"/>
                </a:solidFill>
                <a:latin typeface="Krona One" pitchFamily="34" charset="0"/>
                <a:ea typeface="Krona One" pitchFamily="34" charset="-122"/>
                <a:cs typeface="Krona One" pitchFamily="34" charset="-120"/>
              </a:rPr>
              <a:t>CAPSTONE PROJECT </a:t>
            </a:r>
            <a:endParaRPr lang="en-US" sz="1400" dirty="0"/>
          </a:p>
        </p:txBody>
      </p:sp>
      <p:sp>
        <p:nvSpPr>
          <p:cNvPr id="3" name="Text 1"/>
          <p:cNvSpPr/>
          <p:nvPr/>
        </p:nvSpPr>
        <p:spPr>
          <a:xfrm>
            <a:off x="711182" y="2527995"/>
            <a:ext cx="6095848" cy="1981200"/>
          </a:xfrm>
          <a:prstGeom prst="rect">
            <a:avLst/>
          </a:prstGeom>
          <a:noFill/>
          <a:ln/>
        </p:spPr>
        <p:txBody>
          <a:bodyPr wrap="square" lIns="0" tIns="0" rIns="0" bIns="0" rtlCol="0" anchor="t">
            <a:normAutofit/>
          </a:bodyPr>
          <a:lstStyle/>
          <a:p>
            <a:pPr marL="0" indent="0" algn="l">
              <a:lnSpc>
                <a:spcPct val="83000"/>
              </a:lnSpc>
              <a:buNone/>
            </a:pPr>
            <a:r>
              <a:rPr lang="en-US" sz="5200" kern="0" spc="-156" dirty="0">
                <a:solidFill>
                  <a:srgbClr val="F2E6D2"/>
                </a:solidFill>
                <a:latin typeface="Krona One" pitchFamily="34" charset="0"/>
                <a:ea typeface="Krona One" pitchFamily="34" charset="-122"/>
                <a:cs typeface="Krona One" pitchFamily="34" charset="-120"/>
              </a:rPr>
              <a:t>Cinema Seat</a:t>
            </a:r>
            <a:endParaRPr lang="en-US" sz="5200" dirty="0"/>
          </a:p>
          <a:p>
            <a:pPr marL="0" indent="0" algn="l">
              <a:lnSpc>
                <a:spcPct val="83000"/>
              </a:lnSpc>
              <a:buNone/>
            </a:pPr>
            <a:r>
              <a:rPr lang="en-US" sz="5200" kern="0" spc="-156" dirty="0">
                <a:solidFill>
                  <a:srgbClr val="F2E6D2"/>
                </a:solidFill>
                <a:latin typeface="Krona One" pitchFamily="34" charset="0"/>
                <a:ea typeface="Krona One" pitchFamily="34" charset="-122"/>
                <a:cs typeface="Krona One" pitchFamily="34" charset="-120"/>
              </a:rPr>
              <a:t>Booking System</a:t>
            </a:r>
            <a:endParaRPr lang="en-US" sz="5200" dirty="0"/>
          </a:p>
        </p:txBody>
      </p:sp>
      <p:sp>
        <p:nvSpPr>
          <p:cNvPr id="4" name="Shape 2"/>
          <p:cNvSpPr/>
          <p:nvPr/>
        </p:nvSpPr>
        <p:spPr>
          <a:xfrm>
            <a:off x="711182" y="4794945"/>
            <a:ext cx="609585" cy="38100"/>
          </a:xfrm>
          <a:prstGeom prst="roundRect">
            <a:avLst>
              <a:gd name="adj" fmla="val 49999"/>
            </a:avLst>
          </a:prstGeom>
          <a:solidFill>
            <a:srgbClr val="C71D1A"/>
          </a:solidFill>
          <a:ln/>
        </p:spPr>
      </p:sp>
      <p:sp>
        <p:nvSpPr>
          <p:cNvPr id="5" name="Text 3"/>
          <p:cNvSpPr/>
          <p:nvPr/>
        </p:nvSpPr>
        <p:spPr>
          <a:xfrm>
            <a:off x="711182" y="5096570"/>
            <a:ext cx="6095848" cy="1151830"/>
          </a:xfrm>
          <a:prstGeom prst="rect">
            <a:avLst/>
          </a:prstGeom>
          <a:noFill/>
          <a:ln/>
        </p:spPr>
        <p:txBody>
          <a:bodyPr wrap="square" lIns="0" tIns="0" rIns="0" bIns="0" rtlCol="0" anchor="t"/>
          <a:lstStyle/>
          <a:p>
            <a:pPr marL="0" indent="0" algn="l">
              <a:lnSpc>
                <a:spcPct val="112000"/>
              </a:lnSpc>
              <a:spcAft>
                <a:spcPts val="1650"/>
              </a:spcAft>
              <a:buNone/>
            </a:pPr>
            <a:r>
              <a:rPr lang="en-US" sz="1400" dirty="0">
                <a:solidFill>
                  <a:srgbClr val="B7AF97"/>
                </a:solidFill>
                <a:latin typeface="Space Grotesk" pitchFamily="34" charset="0"/>
                <a:ea typeface="Space Grotesk" pitchFamily="34" charset="-122"/>
                <a:cs typeface="Space Grotesk" pitchFamily="34" charset="-120"/>
              </a:rPr>
              <a:t>Vayyala Dhikshitha - 2620030310</a:t>
            </a:r>
            <a:endParaRPr lang="en-US" sz="1400" dirty="0"/>
          </a:p>
          <a:p>
            <a:pPr marL="0" indent="0" algn="l">
              <a:lnSpc>
                <a:spcPct val="112000"/>
              </a:lnSpc>
              <a:spcAft>
                <a:spcPts val="1650"/>
              </a:spcAft>
              <a:buNone/>
            </a:pPr>
            <a:r>
              <a:rPr lang="en-US" sz="1400" dirty="0">
                <a:solidFill>
                  <a:srgbClr val="B7AF97"/>
                </a:solidFill>
                <a:latin typeface="Space Grotesk" pitchFamily="34" charset="0"/>
                <a:ea typeface="Space Grotesk" pitchFamily="34" charset="-122"/>
                <a:cs typeface="Space Grotesk" pitchFamily="34" charset="-120"/>
              </a:rPr>
              <a:t>Rishvika Reddy - 2620080099</a:t>
            </a:r>
            <a:endParaRPr lang="en-US" sz="1400" dirty="0"/>
          </a:p>
          <a:p>
            <a:pPr marL="0" indent="0" algn="l">
              <a:lnSpc>
                <a:spcPct val="112000"/>
              </a:lnSpc>
              <a:buNone/>
            </a:pPr>
            <a:r>
              <a:rPr lang="en-US" sz="1400" dirty="0">
                <a:solidFill>
                  <a:srgbClr val="B7AF97"/>
                </a:solidFill>
                <a:latin typeface="Space Grotesk" pitchFamily="34" charset="0"/>
                <a:ea typeface="Space Grotesk" pitchFamily="34" charset="-122"/>
                <a:cs typeface="Space Grotesk" pitchFamily="34" charset="-120"/>
              </a:rPr>
              <a:t>Section - 2</a:t>
            </a:r>
            <a:endParaRPr lang="en-US" sz="1400" dirty="0"/>
          </a:p>
        </p:txBody>
      </p:sp>
      <p:pic>
        <p:nvPicPr>
          <p:cNvPr id="6" name="Image 0" descr="preencoded.png"/>
          <p:cNvPicPr>
            <a:picLocks noChangeAspect="1"/>
          </p:cNvPicPr>
          <p:nvPr/>
        </p:nvPicPr>
        <p:blipFill>
          <a:blip r:embed="rId3"/>
          <a:stretch>
            <a:fillRect/>
          </a:stretch>
        </p:blipFill>
        <p:spPr>
          <a:xfrm>
            <a:off x="7518212" y="0"/>
            <a:ext cx="4673483" cy="6858000"/>
          </a:xfrm>
          <a:prstGeom prst="rect">
            <a:avLst/>
          </a:prstGeom>
        </p:spPr>
      </p:pic>
      <p:pic>
        <p:nvPicPr>
          <p:cNvPr id="8" name="Picture 7">
            <a:extLst>
              <a:ext uri="{FF2B5EF4-FFF2-40B4-BE49-F238E27FC236}">
                <a16:creationId xmlns:a16="http://schemas.microsoft.com/office/drawing/2014/main" id="{7D5E54BF-9C7B-0FA0-9526-9B2D1B1BBBA6}"/>
              </a:ext>
            </a:extLst>
          </p:cNvPr>
          <p:cNvPicPr>
            <a:picLocks noChangeAspect="1"/>
          </p:cNvPicPr>
          <p:nvPr/>
        </p:nvPicPr>
        <p:blipFill>
          <a:blip r:embed="rId4"/>
          <a:stretch>
            <a:fillRect/>
          </a:stretch>
        </p:blipFill>
        <p:spPr>
          <a:xfrm>
            <a:off x="9242804" y="6377898"/>
            <a:ext cx="2949196" cy="480102"/>
          </a:xfrm>
          <a:prstGeom prst="rect">
            <a:avLst/>
          </a:prstGeom>
        </p:spPr>
      </p:pic>
      <p:pic>
        <p:nvPicPr>
          <p:cNvPr id="11" name="Picture 10">
            <a:extLst>
              <a:ext uri="{FF2B5EF4-FFF2-40B4-BE49-F238E27FC236}">
                <a16:creationId xmlns:a16="http://schemas.microsoft.com/office/drawing/2014/main" id="{4ABD5512-A16B-DC6D-5A03-D086BBCA467D}"/>
              </a:ext>
            </a:extLst>
          </p:cNvPr>
          <p:cNvPicPr>
            <a:picLocks noChangeAspect="1"/>
          </p:cNvPicPr>
          <p:nvPr/>
        </p:nvPicPr>
        <p:blipFill>
          <a:blip r:embed="rId5"/>
          <a:stretch>
            <a:fillRect/>
          </a:stretch>
        </p:blipFill>
        <p:spPr>
          <a:xfrm>
            <a:off x="10536414" y="0"/>
            <a:ext cx="1655281" cy="97473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09585" y="1572617"/>
            <a:ext cx="2614150" cy="152400"/>
          </a:xfrm>
          <a:prstGeom prst="rect">
            <a:avLst/>
          </a:prstGeom>
          <a:noFill/>
          <a:ln/>
        </p:spPr>
        <p:txBody>
          <a:bodyPr wrap="none" lIns="0" tIns="0" rIns="0" bIns="0" rtlCol="0" anchor="t"/>
          <a:lstStyle/>
          <a:p>
            <a:pPr marL="0" indent="0" algn="l">
              <a:lnSpc>
                <a:spcPct val="100000"/>
              </a:lnSpc>
              <a:buNone/>
            </a:pPr>
            <a:r>
              <a:rPr lang="en-US" sz="1000" kern="0" spc="50" dirty="0">
                <a:solidFill>
                  <a:srgbClr val="676713"/>
                </a:solidFill>
                <a:latin typeface="Krona One" pitchFamily="34" charset="0"/>
                <a:ea typeface="Krona One" pitchFamily="34" charset="-122"/>
                <a:cs typeface="Krona One" pitchFamily="34" charset="-120"/>
              </a:rPr>
              <a:t>01 · INTRODUCTION</a:t>
            </a:r>
            <a:endParaRPr lang="en-US" sz="1000" dirty="0"/>
          </a:p>
        </p:txBody>
      </p:sp>
      <p:sp>
        <p:nvSpPr>
          <p:cNvPr id="3" name="Shape 1"/>
          <p:cNvSpPr/>
          <p:nvPr/>
        </p:nvSpPr>
        <p:spPr>
          <a:xfrm>
            <a:off x="3401431" y="1632942"/>
            <a:ext cx="3921225" cy="31651"/>
          </a:xfrm>
          <a:prstGeom prst="roundRect">
            <a:avLst>
              <a:gd name="adj" fmla="val 49998"/>
            </a:avLst>
          </a:prstGeom>
          <a:solidFill>
            <a:srgbClr val="B7AC55"/>
          </a:solidFill>
          <a:ln/>
        </p:spPr>
      </p:sp>
      <p:sp>
        <p:nvSpPr>
          <p:cNvPr id="4" name="Text 2"/>
          <p:cNvSpPr/>
          <p:nvPr/>
        </p:nvSpPr>
        <p:spPr>
          <a:xfrm>
            <a:off x="609585" y="2134592"/>
            <a:ext cx="6713072" cy="782241"/>
          </a:xfrm>
          <a:prstGeom prst="rect">
            <a:avLst/>
          </a:prstGeom>
          <a:noFill/>
          <a:ln/>
        </p:spPr>
        <p:txBody>
          <a:bodyPr wrap="square" lIns="0" tIns="0" rIns="0" bIns="0" rtlCol="0" anchor="t">
            <a:normAutofit lnSpcReduction="10000"/>
          </a:bodyPr>
          <a:lstStyle/>
          <a:p>
            <a:pPr marL="0" indent="0" algn="l">
              <a:lnSpc>
                <a:spcPct val="92000"/>
              </a:lnSpc>
              <a:buNone/>
            </a:pPr>
            <a:r>
              <a:rPr lang="en-US" sz="2800" kern="0" spc="-56" dirty="0">
                <a:solidFill>
                  <a:srgbClr val="2E2F0E"/>
                </a:solidFill>
                <a:latin typeface="Krona One" pitchFamily="34" charset="0"/>
                <a:ea typeface="Krona One" pitchFamily="34" charset="-122"/>
                <a:cs typeface="Krona One" pitchFamily="34" charset="-120"/>
              </a:rPr>
              <a:t>A simple way to manage cinema seats</a:t>
            </a:r>
            <a:endParaRPr lang="en-US" sz="2800" dirty="0"/>
          </a:p>
        </p:txBody>
      </p:sp>
      <p:sp>
        <p:nvSpPr>
          <p:cNvPr id="5" name="Text 3"/>
          <p:cNvSpPr/>
          <p:nvPr/>
        </p:nvSpPr>
        <p:spPr>
          <a:xfrm>
            <a:off x="609585" y="3154958"/>
            <a:ext cx="6713072" cy="552450"/>
          </a:xfrm>
          <a:prstGeom prst="rect">
            <a:avLst/>
          </a:prstGeom>
          <a:noFill/>
          <a:ln/>
        </p:spPr>
        <p:txBody>
          <a:bodyPr wrap="square" lIns="0" tIns="0" rIns="0" bIns="0" rtlCol="0" anchor="t">
            <a:normAutofit/>
          </a:bodyPr>
          <a:lstStyle/>
          <a:p>
            <a:pPr marL="0" indent="0" algn="l">
              <a:lnSpc>
                <a:spcPct val="121000"/>
              </a:lnSpc>
              <a:buNone/>
            </a:pPr>
            <a:r>
              <a:rPr lang="en-US" sz="1500" dirty="0">
                <a:solidFill>
                  <a:srgbClr val="2E2F0E"/>
                </a:solidFill>
                <a:latin typeface="Space Grotesk" pitchFamily="34" charset="0"/>
                <a:ea typeface="Space Grotesk" pitchFamily="34" charset="-122"/>
                <a:cs typeface="Space Grotesk" pitchFamily="34" charset="-120"/>
              </a:rPr>
              <a:t>The system lets a user check availability, book a seat, cancel a booking, and view booking information from one console menu.</a:t>
            </a:r>
            <a:endParaRPr lang="en-US" sz="1500" dirty="0"/>
          </a:p>
        </p:txBody>
      </p:sp>
      <p:sp>
        <p:nvSpPr>
          <p:cNvPr id="6" name="Text 4"/>
          <p:cNvSpPr/>
          <p:nvPr/>
        </p:nvSpPr>
        <p:spPr>
          <a:xfrm>
            <a:off x="609585" y="4037608"/>
            <a:ext cx="6713072" cy="276225"/>
          </a:xfrm>
          <a:prstGeom prst="rect">
            <a:avLst/>
          </a:prstGeom>
          <a:noFill/>
          <a:ln/>
        </p:spPr>
        <p:txBody>
          <a:bodyPr wrap="none" lIns="0" tIns="0" rIns="0" bIns="0" rtlCol="0" anchor="t"/>
          <a:lstStyle/>
          <a:p>
            <a:pPr marL="0" indent="0" algn="l">
              <a:lnSpc>
                <a:spcPct val="121000"/>
              </a:lnSpc>
              <a:buNone/>
            </a:pPr>
            <a:r>
              <a:rPr lang="en-US" sz="1500" b="1" dirty="0">
                <a:solidFill>
                  <a:srgbClr val="2E2F0E"/>
                </a:solidFill>
                <a:latin typeface="Space Grotesk Bold" pitchFamily="34" charset="0"/>
                <a:ea typeface="Space Grotesk Bold" pitchFamily="34" charset="-122"/>
                <a:cs typeface="Space Grotesk Bold" pitchFamily="34" charset="-120"/>
              </a:rPr>
              <a:t>View seats</a:t>
            </a:r>
            <a:r>
              <a:rPr lang="en-US" sz="1500" dirty="0">
                <a:solidFill>
                  <a:srgbClr val="2E2F0E"/>
                </a:solidFill>
                <a:latin typeface="Space Grotesk" pitchFamily="34" charset="0"/>
                <a:ea typeface="Space Grotesk" pitchFamily="34" charset="-122"/>
                <a:cs typeface="Space Grotesk" pitchFamily="34" charset="-120"/>
              </a:rPr>
              <a:t> — See which seats are available or already booked.</a:t>
            </a:r>
            <a:endParaRPr lang="en-US" sz="1500" dirty="0"/>
          </a:p>
        </p:txBody>
      </p:sp>
      <p:sp>
        <p:nvSpPr>
          <p:cNvPr id="7" name="Text 5"/>
          <p:cNvSpPr/>
          <p:nvPr/>
        </p:nvSpPr>
        <p:spPr>
          <a:xfrm>
            <a:off x="609585" y="4542433"/>
            <a:ext cx="6713072" cy="276225"/>
          </a:xfrm>
          <a:prstGeom prst="rect">
            <a:avLst/>
          </a:prstGeom>
          <a:noFill/>
          <a:ln/>
        </p:spPr>
        <p:txBody>
          <a:bodyPr wrap="none" lIns="0" tIns="0" rIns="0" bIns="0" rtlCol="0" anchor="t"/>
          <a:lstStyle/>
          <a:p>
            <a:pPr marL="0" indent="0" algn="l">
              <a:lnSpc>
                <a:spcPct val="121000"/>
              </a:lnSpc>
              <a:buNone/>
            </a:pPr>
            <a:r>
              <a:rPr lang="en-US" sz="1500" b="1" dirty="0">
                <a:solidFill>
                  <a:srgbClr val="2E2F0E"/>
                </a:solidFill>
                <a:latin typeface="Space Grotesk Bold" pitchFamily="34" charset="0"/>
                <a:ea typeface="Space Grotesk Bold" pitchFamily="34" charset="-122"/>
                <a:cs typeface="Space Grotesk Bold" pitchFamily="34" charset="-120"/>
              </a:rPr>
              <a:t>Book or cancel</a:t>
            </a:r>
            <a:r>
              <a:rPr lang="en-US" sz="1500" dirty="0">
                <a:solidFill>
                  <a:srgbClr val="2E2F0E"/>
                </a:solidFill>
                <a:latin typeface="Space Grotesk" pitchFamily="34" charset="0"/>
                <a:ea typeface="Space Grotesk" pitchFamily="34" charset="-122"/>
                <a:cs typeface="Space Grotesk" pitchFamily="34" charset="-120"/>
              </a:rPr>
              <a:t> — Choose an operation and follow the prompts.</a:t>
            </a:r>
            <a:endParaRPr lang="en-US" sz="1500" dirty="0"/>
          </a:p>
        </p:txBody>
      </p:sp>
      <p:sp>
        <p:nvSpPr>
          <p:cNvPr id="8" name="Text 6"/>
          <p:cNvSpPr/>
          <p:nvPr/>
        </p:nvSpPr>
        <p:spPr>
          <a:xfrm>
            <a:off x="609585" y="5047258"/>
            <a:ext cx="6713072" cy="276225"/>
          </a:xfrm>
          <a:prstGeom prst="rect">
            <a:avLst/>
          </a:prstGeom>
          <a:noFill/>
          <a:ln/>
        </p:spPr>
        <p:txBody>
          <a:bodyPr wrap="none" lIns="0" tIns="0" rIns="0" bIns="0" rtlCol="0" anchor="t"/>
          <a:lstStyle/>
          <a:p>
            <a:pPr marL="0" indent="0" algn="l">
              <a:lnSpc>
                <a:spcPct val="121000"/>
              </a:lnSpc>
              <a:buNone/>
            </a:pPr>
            <a:r>
              <a:rPr lang="en-US" sz="1500" b="1" dirty="0">
                <a:solidFill>
                  <a:srgbClr val="2E2F0E"/>
                </a:solidFill>
                <a:latin typeface="Space Grotesk Bold" pitchFamily="34" charset="0"/>
                <a:ea typeface="Space Grotesk Bold" pitchFamily="34" charset="-122"/>
                <a:cs typeface="Space Grotesk Bold" pitchFamily="34" charset="-120"/>
              </a:rPr>
              <a:t>Check information</a:t>
            </a:r>
            <a:r>
              <a:rPr lang="en-US" sz="1500" dirty="0">
                <a:solidFill>
                  <a:srgbClr val="2E2F0E"/>
                </a:solidFill>
                <a:latin typeface="Space Grotesk" pitchFamily="34" charset="0"/>
                <a:ea typeface="Space Grotesk" pitchFamily="34" charset="-122"/>
                <a:cs typeface="Space Grotesk" pitchFamily="34" charset="-120"/>
              </a:rPr>
              <a:t> — Review the booking details kept by the program.</a:t>
            </a:r>
            <a:endParaRPr lang="en-US" sz="1500" dirty="0"/>
          </a:p>
        </p:txBody>
      </p:sp>
      <p:pic>
        <p:nvPicPr>
          <p:cNvPr id="9" name="Image 0" descr="preencoded.png"/>
          <p:cNvPicPr>
            <a:picLocks noChangeAspect="1"/>
          </p:cNvPicPr>
          <p:nvPr/>
        </p:nvPicPr>
        <p:blipFill>
          <a:blip r:embed="rId3"/>
          <a:stretch>
            <a:fillRect/>
          </a:stretch>
        </p:blipFill>
        <p:spPr>
          <a:xfrm>
            <a:off x="8084538" y="0"/>
            <a:ext cx="4107157" cy="6858000"/>
          </a:xfrm>
          <a:prstGeom prst="rect">
            <a:avLst/>
          </a:prstGeom>
        </p:spPr>
      </p:pic>
      <p:sp>
        <p:nvSpPr>
          <p:cNvPr id="10" name="Shape 7"/>
          <p:cNvSpPr/>
          <p:nvPr/>
        </p:nvSpPr>
        <p:spPr>
          <a:xfrm>
            <a:off x="609585" y="4421783"/>
            <a:ext cx="6713072" cy="12700"/>
          </a:xfrm>
          <a:prstGeom prst="rect">
            <a:avLst/>
          </a:prstGeom>
          <a:solidFill>
            <a:srgbClr val="676713"/>
          </a:solidFill>
          <a:ln/>
        </p:spPr>
      </p:sp>
      <p:sp>
        <p:nvSpPr>
          <p:cNvPr id="11" name="Shape 8"/>
          <p:cNvSpPr/>
          <p:nvPr/>
        </p:nvSpPr>
        <p:spPr>
          <a:xfrm>
            <a:off x="609585" y="4926608"/>
            <a:ext cx="6713072" cy="12700"/>
          </a:xfrm>
          <a:prstGeom prst="rect">
            <a:avLst/>
          </a:prstGeom>
          <a:solidFill>
            <a:srgbClr val="676713"/>
          </a:solidFill>
          <a:ln/>
        </p:spPr>
      </p:sp>
      <p:pic>
        <p:nvPicPr>
          <p:cNvPr id="13" name="Picture 12">
            <a:extLst>
              <a:ext uri="{FF2B5EF4-FFF2-40B4-BE49-F238E27FC236}">
                <a16:creationId xmlns:a16="http://schemas.microsoft.com/office/drawing/2014/main" id="{58670009-6121-1890-DC19-951D5F3368B5}"/>
              </a:ext>
            </a:extLst>
          </p:cNvPr>
          <p:cNvPicPr>
            <a:picLocks noChangeAspect="1"/>
          </p:cNvPicPr>
          <p:nvPr/>
        </p:nvPicPr>
        <p:blipFill>
          <a:blip r:embed="rId4"/>
          <a:stretch>
            <a:fillRect/>
          </a:stretch>
        </p:blipFill>
        <p:spPr>
          <a:xfrm>
            <a:off x="10390883" y="6233758"/>
            <a:ext cx="1729890" cy="548688"/>
          </a:xfrm>
          <a:prstGeom prst="rect">
            <a:avLst/>
          </a:prstGeom>
        </p:spPr>
      </p:pic>
      <p:pic>
        <p:nvPicPr>
          <p:cNvPr id="14" name="Picture 13">
            <a:extLst>
              <a:ext uri="{FF2B5EF4-FFF2-40B4-BE49-F238E27FC236}">
                <a16:creationId xmlns:a16="http://schemas.microsoft.com/office/drawing/2014/main" id="{7D8C66FA-D3CD-8A45-F686-FCE173AEF6EB}"/>
              </a:ext>
            </a:extLst>
          </p:cNvPr>
          <p:cNvPicPr>
            <a:picLocks noChangeAspect="1"/>
          </p:cNvPicPr>
          <p:nvPr/>
        </p:nvPicPr>
        <p:blipFill>
          <a:blip r:embed="rId5"/>
          <a:stretch>
            <a:fillRect/>
          </a:stretch>
        </p:blipFill>
        <p:spPr>
          <a:xfrm>
            <a:off x="10536414" y="0"/>
            <a:ext cx="1655281" cy="97473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09585" y="609600"/>
            <a:ext cx="3598276" cy="152400"/>
          </a:xfrm>
          <a:prstGeom prst="rect">
            <a:avLst/>
          </a:prstGeom>
          <a:noFill/>
          <a:ln/>
        </p:spPr>
        <p:txBody>
          <a:bodyPr wrap="none" lIns="0" tIns="0" rIns="0" bIns="0" rtlCol="0" anchor="t"/>
          <a:lstStyle/>
          <a:p>
            <a:pPr marL="0" indent="0" algn="l">
              <a:lnSpc>
                <a:spcPct val="100000"/>
              </a:lnSpc>
              <a:buNone/>
            </a:pPr>
            <a:r>
              <a:rPr lang="en-US" sz="1000" kern="0" spc="50" dirty="0">
                <a:solidFill>
                  <a:srgbClr val="676713"/>
                </a:solidFill>
                <a:latin typeface="Krona One" pitchFamily="34" charset="0"/>
                <a:ea typeface="Krona One" pitchFamily="34" charset="-122"/>
                <a:cs typeface="Krona One" pitchFamily="34" charset="-120"/>
              </a:rPr>
              <a:t>02 · PROJECT OBJECTIVES</a:t>
            </a:r>
            <a:endParaRPr lang="en-US" sz="1000" dirty="0"/>
          </a:p>
        </p:txBody>
      </p:sp>
      <p:sp>
        <p:nvSpPr>
          <p:cNvPr id="4" name="Text 2"/>
          <p:cNvSpPr/>
          <p:nvPr/>
        </p:nvSpPr>
        <p:spPr>
          <a:xfrm>
            <a:off x="609585" y="1171575"/>
            <a:ext cx="8889778" cy="782241"/>
          </a:xfrm>
          <a:prstGeom prst="rect">
            <a:avLst/>
          </a:prstGeom>
          <a:noFill/>
          <a:ln/>
        </p:spPr>
        <p:txBody>
          <a:bodyPr wrap="square" lIns="0" tIns="0" rIns="0" bIns="0" rtlCol="0" anchor="t">
            <a:normAutofit lnSpcReduction="10000"/>
          </a:bodyPr>
          <a:lstStyle/>
          <a:p>
            <a:pPr marL="0" indent="0" algn="l">
              <a:lnSpc>
                <a:spcPct val="92000"/>
              </a:lnSpc>
              <a:buNone/>
            </a:pPr>
            <a:r>
              <a:rPr lang="en-US" sz="2800" kern="0" spc="-56" dirty="0">
                <a:solidFill>
                  <a:srgbClr val="2E2F0E"/>
                </a:solidFill>
                <a:latin typeface="Krona One" pitchFamily="34" charset="0"/>
                <a:ea typeface="Krona One" pitchFamily="34" charset="-122"/>
                <a:cs typeface="Krona One" pitchFamily="34" charset="-120"/>
              </a:rPr>
              <a:t>Make every booking step clear and reliable</a:t>
            </a:r>
            <a:endParaRPr lang="en-US" sz="2800" dirty="0"/>
          </a:p>
        </p:txBody>
      </p:sp>
      <p:pic>
        <p:nvPicPr>
          <p:cNvPr id="5" name="Image 0" descr="preencoded.png"/>
          <p:cNvPicPr>
            <a:picLocks noChangeAspect="1"/>
          </p:cNvPicPr>
          <p:nvPr/>
        </p:nvPicPr>
        <p:blipFill>
          <a:blip r:embed="rId3"/>
          <a:stretch>
            <a:fillRect/>
          </a:stretch>
        </p:blipFill>
        <p:spPr>
          <a:xfrm>
            <a:off x="609585" y="2191941"/>
            <a:ext cx="476238" cy="476250"/>
          </a:xfrm>
          <a:prstGeom prst="rect">
            <a:avLst/>
          </a:prstGeom>
        </p:spPr>
      </p:pic>
      <p:sp>
        <p:nvSpPr>
          <p:cNvPr id="6" name="Text 3"/>
          <p:cNvSpPr/>
          <p:nvPr/>
        </p:nvSpPr>
        <p:spPr>
          <a:xfrm>
            <a:off x="609585" y="2807891"/>
            <a:ext cx="3428914" cy="317500"/>
          </a:xfrm>
          <a:prstGeom prst="rect">
            <a:avLst/>
          </a:prstGeom>
          <a:noFill/>
          <a:ln/>
        </p:spPr>
        <p:txBody>
          <a:bodyPr wrap="none" lIns="0" tIns="0" rIns="0" bIns="0" rtlCol="0" anchor="t"/>
          <a:lstStyle/>
          <a:p>
            <a:pPr marL="0" indent="0" algn="l">
              <a:lnSpc>
                <a:spcPct val="104000"/>
              </a:lnSpc>
              <a:buNone/>
            </a:pPr>
            <a:r>
              <a:rPr lang="en-US" sz="2000" dirty="0">
                <a:solidFill>
                  <a:srgbClr val="2E2F0E"/>
                </a:solidFill>
                <a:latin typeface="Space Grotesk SemiBold" pitchFamily="34" charset="0"/>
                <a:ea typeface="Space Grotesk SemiBold" pitchFamily="34" charset="-122"/>
                <a:cs typeface="Space Grotesk SemiBold" pitchFamily="34" charset="-120"/>
              </a:rPr>
              <a:t>Show availability</a:t>
            </a:r>
            <a:endParaRPr lang="en-US" sz="2000" dirty="0"/>
          </a:p>
        </p:txBody>
      </p:sp>
      <p:sp>
        <p:nvSpPr>
          <p:cNvPr id="7" name="Text 4"/>
          <p:cNvSpPr/>
          <p:nvPr/>
        </p:nvSpPr>
        <p:spPr>
          <a:xfrm>
            <a:off x="609585" y="3296841"/>
            <a:ext cx="3428914" cy="478631"/>
          </a:xfrm>
          <a:prstGeom prst="rect">
            <a:avLst/>
          </a:prstGeom>
          <a:noFill/>
          <a:ln/>
        </p:spPr>
        <p:txBody>
          <a:bodyPr wrap="square" lIns="0" tIns="0" rIns="0" bIns="0" rtlCol="0" anchor="t">
            <a:normAutofit/>
          </a:bodyPr>
          <a:lstStyle/>
          <a:p>
            <a:pPr marL="0" indent="0" algn="l">
              <a:lnSpc>
                <a:spcPct val="121000"/>
              </a:lnSpc>
              <a:buNone/>
            </a:pPr>
            <a:r>
              <a:rPr lang="en-US" sz="1300" dirty="0">
                <a:solidFill>
                  <a:srgbClr val="2E2F0E"/>
                </a:solidFill>
                <a:latin typeface="Space Grotesk" pitchFamily="34" charset="0"/>
                <a:ea typeface="Space Grotesk" pitchFamily="34" charset="-122"/>
                <a:cs typeface="Space Grotesk" pitchFamily="34" charset="-120"/>
              </a:rPr>
              <a:t>Display the current seat layout so the user can make a choice.</a:t>
            </a:r>
            <a:endParaRPr lang="en-US" sz="1300" dirty="0"/>
          </a:p>
        </p:txBody>
      </p:sp>
      <p:pic>
        <p:nvPicPr>
          <p:cNvPr id="8" name="Image 1" descr="preencoded.png"/>
          <p:cNvPicPr>
            <a:picLocks noChangeAspect="1"/>
          </p:cNvPicPr>
          <p:nvPr/>
        </p:nvPicPr>
        <p:blipFill>
          <a:blip r:embed="rId4"/>
          <a:stretch>
            <a:fillRect/>
          </a:stretch>
        </p:blipFill>
        <p:spPr>
          <a:xfrm>
            <a:off x="4495688" y="2191941"/>
            <a:ext cx="476238" cy="476250"/>
          </a:xfrm>
          <a:prstGeom prst="rect">
            <a:avLst/>
          </a:prstGeom>
        </p:spPr>
      </p:pic>
      <p:sp>
        <p:nvSpPr>
          <p:cNvPr id="9" name="Text 5"/>
          <p:cNvSpPr/>
          <p:nvPr/>
        </p:nvSpPr>
        <p:spPr>
          <a:xfrm>
            <a:off x="4495688" y="2807891"/>
            <a:ext cx="3200320" cy="317500"/>
          </a:xfrm>
          <a:prstGeom prst="rect">
            <a:avLst/>
          </a:prstGeom>
          <a:noFill/>
          <a:ln/>
        </p:spPr>
        <p:txBody>
          <a:bodyPr wrap="none" lIns="0" tIns="0" rIns="0" bIns="0" rtlCol="0" anchor="t"/>
          <a:lstStyle/>
          <a:p>
            <a:pPr marL="0" indent="0" algn="l">
              <a:lnSpc>
                <a:spcPct val="104000"/>
              </a:lnSpc>
              <a:buNone/>
            </a:pPr>
            <a:r>
              <a:rPr lang="en-US" sz="2000" dirty="0">
                <a:solidFill>
                  <a:srgbClr val="2E2F0E"/>
                </a:solidFill>
                <a:latin typeface="Space Grotesk SemiBold" pitchFamily="34" charset="0"/>
                <a:ea typeface="Space Grotesk SemiBold" pitchFamily="34" charset="-122"/>
                <a:cs typeface="Space Grotesk SemiBold" pitchFamily="34" charset="-120"/>
              </a:rPr>
              <a:t>Book safely</a:t>
            </a:r>
            <a:endParaRPr lang="en-US" sz="2000" dirty="0"/>
          </a:p>
        </p:txBody>
      </p:sp>
      <p:sp>
        <p:nvSpPr>
          <p:cNvPr id="10" name="Text 6"/>
          <p:cNvSpPr/>
          <p:nvPr/>
        </p:nvSpPr>
        <p:spPr>
          <a:xfrm>
            <a:off x="4495688" y="3296841"/>
            <a:ext cx="3200320" cy="478631"/>
          </a:xfrm>
          <a:prstGeom prst="rect">
            <a:avLst/>
          </a:prstGeom>
          <a:noFill/>
          <a:ln/>
        </p:spPr>
        <p:txBody>
          <a:bodyPr wrap="square" lIns="0" tIns="0" rIns="0" bIns="0" rtlCol="0" anchor="t">
            <a:normAutofit/>
          </a:bodyPr>
          <a:lstStyle/>
          <a:p>
            <a:pPr marL="0" indent="0" algn="l">
              <a:lnSpc>
                <a:spcPct val="121000"/>
              </a:lnSpc>
              <a:buNone/>
            </a:pPr>
            <a:r>
              <a:rPr lang="en-US" sz="1300" dirty="0">
                <a:solidFill>
                  <a:srgbClr val="2E2F0E"/>
                </a:solidFill>
                <a:latin typeface="Space Grotesk" pitchFamily="34" charset="0"/>
                <a:ea typeface="Space Grotesk" pitchFamily="34" charset="-122"/>
                <a:cs typeface="Space Grotesk" pitchFamily="34" charset="-120"/>
              </a:rPr>
              <a:t>Allow seat selection while preventing double bookings.</a:t>
            </a:r>
            <a:endParaRPr lang="en-US" sz="1300" dirty="0"/>
          </a:p>
        </p:txBody>
      </p:sp>
      <p:pic>
        <p:nvPicPr>
          <p:cNvPr id="11" name="Image 2" descr="preencoded.png"/>
          <p:cNvPicPr>
            <a:picLocks noChangeAspect="1"/>
          </p:cNvPicPr>
          <p:nvPr/>
        </p:nvPicPr>
        <p:blipFill>
          <a:blip r:embed="rId5"/>
          <a:stretch>
            <a:fillRect/>
          </a:stretch>
        </p:blipFill>
        <p:spPr>
          <a:xfrm>
            <a:off x="8153196" y="2191941"/>
            <a:ext cx="476238" cy="476250"/>
          </a:xfrm>
          <a:prstGeom prst="rect">
            <a:avLst/>
          </a:prstGeom>
        </p:spPr>
      </p:pic>
      <p:sp>
        <p:nvSpPr>
          <p:cNvPr id="12" name="Text 7"/>
          <p:cNvSpPr/>
          <p:nvPr/>
        </p:nvSpPr>
        <p:spPr>
          <a:xfrm>
            <a:off x="8153196" y="2807891"/>
            <a:ext cx="3428914" cy="317500"/>
          </a:xfrm>
          <a:prstGeom prst="rect">
            <a:avLst/>
          </a:prstGeom>
          <a:noFill/>
          <a:ln/>
        </p:spPr>
        <p:txBody>
          <a:bodyPr wrap="none" lIns="0" tIns="0" rIns="0" bIns="0" rtlCol="0" anchor="t"/>
          <a:lstStyle/>
          <a:p>
            <a:pPr marL="0" indent="0" algn="l">
              <a:lnSpc>
                <a:spcPct val="104000"/>
              </a:lnSpc>
              <a:buNone/>
            </a:pPr>
            <a:r>
              <a:rPr lang="en-US" sz="2000" dirty="0">
                <a:solidFill>
                  <a:srgbClr val="2E2F0E"/>
                </a:solidFill>
                <a:latin typeface="Space Grotesk SemiBold" pitchFamily="34" charset="0"/>
                <a:ea typeface="Space Grotesk SemiBold" pitchFamily="34" charset="-122"/>
                <a:cs typeface="Space Grotesk SemiBold" pitchFamily="34" charset="-120"/>
              </a:rPr>
              <a:t>Keep control</a:t>
            </a:r>
            <a:endParaRPr lang="en-US" sz="2000" dirty="0"/>
          </a:p>
        </p:txBody>
      </p:sp>
      <p:sp>
        <p:nvSpPr>
          <p:cNvPr id="13" name="Text 8"/>
          <p:cNvSpPr/>
          <p:nvPr/>
        </p:nvSpPr>
        <p:spPr>
          <a:xfrm>
            <a:off x="8153196" y="3296841"/>
            <a:ext cx="3428914" cy="478631"/>
          </a:xfrm>
          <a:prstGeom prst="rect">
            <a:avLst/>
          </a:prstGeom>
          <a:noFill/>
          <a:ln/>
        </p:spPr>
        <p:txBody>
          <a:bodyPr wrap="square" lIns="0" tIns="0" rIns="0" bIns="0" rtlCol="0" anchor="t">
            <a:normAutofit/>
          </a:bodyPr>
          <a:lstStyle/>
          <a:p>
            <a:pPr marL="0" indent="0" algn="l">
              <a:lnSpc>
                <a:spcPct val="121000"/>
              </a:lnSpc>
              <a:buNone/>
            </a:pPr>
            <a:r>
              <a:rPr lang="en-US" sz="1300" dirty="0">
                <a:solidFill>
                  <a:srgbClr val="2E2F0E"/>
                </a:solidFill>
                <a:latin typeface="Space Grotesk" pitchFamily="34" charset="0"/>
                <a:ea typeface="Space Grotesk" pitchFamily="34" charset="-122"/>
                <a:cs typeface="Space Grotesk" pitchFamily="34" charset="-120"/>
              </a:rPr>
              <a:t>Supports cancellation and retains booking information.</a:t>
            </a:r>
            <a:endParaRPr lang="en-US" sz="1300" dirty="0"/>
          </a:p>
        </p:txBody>
      </p:sp>
      <p:pic>
        <p:nvPicPr>
          <p:cNvPr id="14" name="Image 3" descr="preencoded.png"/>
          <p:cNvPicPr>
            <a:picLocks noChangeAspect="1"/>
          </p:cNvPicPr>
          <p:nvPr/>
        </p:nvPicPr>
        <p:blipFill>
          <a:blip r:embed="rId6"/>
          <a:stretch>
            <a:fillRect/>
          </a:stretch>
        </p:blipFill>
        <p:spPr>
          <a:xfrm>
            <a:off x="609585" y="4448770"/>
            <a:ext cx="476238" cy="476250"/>
          </a:xfrm>
          <a:prstGeom prst="rect">
            <a:avLst/>
          </a:prstGeom>
        </p:spPr>
      </p:pic>
      <p:sp>
        <p:nvSpPr>
          <p:cNvPr id="15" name="Text 9"/>
          <p:cNvSpPr/>
          <p:nvPr/>
        </p:nvSpPr>
        <p:spPr>
          <a:xfrm>
            <a:off x="609585" y="5064720"/>
            <a:ext cx="10972526" cy="317500"/>
          </a:xfrm>
          <a:prstGeom prst="rect">
            <a:avLst/>
          </a:prstGeom>
          <a:noFill/>
          <a:ln/>
        </p:spPr>
        <p:txBody>
          <a:bodyPr wrap="none" lIns="0" tIns="0" rIns="0" bIns="0" rtlCol="0" anchor="t"/>
          <a:lstStyle/>
          <a:p>
            <a:pPr marL="0" indent="0" algn="l">
              <a:lnSpc>
                <a:spcPct val="104000"/>
              </a:lnSpc>
              <a:buNone/>
            </a:pPr>
            <a:r>
              <a:rPr lang="en-US" sz="2000" dirty="0">
                <a:solidFill>
                  <a:srgbClr val="2E2F0E"/>
                </a:solidFill>
                <a:latin typeface="Space Grotesk SemiBold" pitchFamily="34" charset="0"/>
                <a:ea typeface="Space Grotesk SemiBold" pitchFamily="34" charset="-122"/>
                <a:cs typeface="Space Grotesk SemiBold" pitchFamily="34" charset="-120"/>
              </a:rPr>
              <a:t>Simplify the process</a:t>
            </a:r>
            <a:endParaRPr lang="en-US" sz="2000" dirty="0"/>
          </a:p>
        </p:txBody>
      </p:sp>
      <p:sp>
        <p:nvSpPr>
          <p:cNvPr id="16" name="Text 10"/>
          <p:cNvSpPr/>
          <p:nvPr/>
        </p:nvSpPr>
        <p:spPr>
          <a:xfrm>
            <a:off x="609585" y="5553670"/>
            <a:ext cx="10972526" cy="239316"/>
          </a:xfrm>
          <a:prstGeom prst="rect">
            <a:avLst/>
          </a:prstGeom>
          <a:noFill/>
          <a:ln/>
        </p:spPr>
        <p:txBody>
          <a:bodyPr wrap="none" lIns="0" tIns="0" rIns="0" bIns="0" rtlCol="0" anchor="t"/>
          <a:lstStyle/>
          <a:p>
            <a:pPr marL="0" indent="0" algn="l">
              <a:lnSpc>
                <a:spcPct val="121000"/>
              </a:lnSpc>
              <a:buNone/>
            </a:pPr>
            <a:r>
              <a:rPr lang="en-US" sz="1300" dirty="0">
                <a:solidFill>
                  <a:srgbClr val="2E2F0E"/>
                </a:solidFill>
                <a:latin typeface="Space Grotesk" pitchFamily="34" charset="0"/>
                <a:ea typeface="Space Grotesk" pitchFamily="34" charset="-122"/>
                <a:cs typeface="Space Grotesk" pitchFamily="34" charset="-120"/>
              </a:rPr>
              <a:t>Organize the actions in a direct, easy-to-follow console flow.</a:t>
            </a:r>
            <a:endParaRPr lang="en-US" sz="1300" dirty="0"/>
          </a:p>
        </p:txBody>
      </p:sp>
      <p:sp>
        <p:nvSpPr>
          <p:cNvPr id="17" name="Shape 11"/>
          <p:cNvSpPr/>
          <p:nvPr/>
        </p:nvSpPr>
        <p:spPr>
          <a:xfrm>
            <a:off x="4260743" y="2191941"/>
            <a:ext cx="12700" cy="2028230"/>
          </a:xfrm>
          <a:prstGeom prst="rect">
            <a:avLst/>
          </a:prstGeom>
          <a:solidFill>
            <a:srgbClr val="676713"/>
          </a:solidFill>
          <a:ln/>
        </p:spPr>
      </p:sp>
      <p:sp>
        <p:nvSpPr>
          <p:cNvPr id="18" name="Shape 12"/>
          <p:cNvSpPr/>
          <p:nvPr/>
        </p:nvSpPr>
        <p:spPr>
          <a:xfrm>
            <a:off x="7918252" y="2191941"/>
            <a:ext cx="12700" cy="2028230"/>
          </a:xfrm>
          <a:prstGeom prst="rect">
            <a:avLst/>
          </a:prstGeom>
          <a:solidFill>
            <a:srgbClr val="676713"/>
          </a:solidFill>
          <a:ln/>
        </p:spPr>
      </p:sp>
      <p:sp>
        <p:nvSpPr>
          <p:cNvPr id="19" name="Shape 13"/>
          <p:cNvSpPr/>
          <p:nvPr/>
        </p:nvSpPr>
        <p:spPr>
          <a:xfrm>
            <a:off x="609585" y="4213820"/>
            <a:ext cx="10972526" cy="12700"/>
          </a:xfrm>
          <a:prstGeom prst="rect">
            <a:avLst/>
          </a:prstGeom>
          <a:solidFill>
            <a:srgbClr val="676713"/>
          </a:solidFill>
          <a:ln/>
        </p:spPr>
      </p:sp>
      <p:sp>
        <p:nvSpPr>
          <p:cNvPr id="20" name="Text 14"/>
          <p:cNvSpPr/>
          <p:nvPr/>
        </p:nvSpPr>
        <p:spPr>
          <a:xfrm>
            <a:off x="11423960" y="6461125"/>
            <a:ext cx="767735" cy="184150"/>
          </a:xfrm>
          <a:prstGeom prst="rect">
            <a:avLst/>
          </a:prstGeom>
          <a:noFill/>
          <a:ln/>
        </p:spPr>
        <p:txBody>
          <a:bodyPr wrap="none" lIns="0" tIns="0" rIns="0" bIns="0" rtlCol="0" anchor="ctr"/>
          <a:lstStyle/>
          <a:p>
            <a:pPr marL="0" indent="0" algn="l">
              <a:lnSpc>
                <a:spcPct val="121000"/>
              </a:lnSpc>
              <a:buNone/>
            </a:pPr>
            <a:r>
              <a:rPr lang="en-US" sz="1000" dirty="0">
                <a:solidFill>
                  <a:srgbClr val="2E2F0E"/>
                </a:solidFill>
                <a:latin typeface="Space Grotesk" pitchFamily="34" charset="0"/>
                <a:ea typeface="Space Grotesk" pitchFamily="34" charset="-122"/>
                <a:cs typeface="Space Grotesk" pitchFamily="34" charset="-120"/>
              </a:rPr>
              <a:t>03</a:t>
            </a:r>
            <a:endParaRPr lang="en-US" sz="1000" dirty="0"/>
          </a:p>
        </p:txBody>
      </p:sp>
      <p:pic>
        <p:nvPicPr>
          <p:cNvPr id="22" name="Picture 21">
            <a:extLst>
              <a:ext uri="{FF2B5EF4-FFF2-40B4-BE49-F238E27FC236}">
                <a16:creationId xmlns:a16="http://schemas.microsoft.com/office/drawing/2014/main" id="{DA670CFE-A37B-3679-C70A-63108F107F64}"/>
              </a:ext>
            </a:extLst>
          </p:cNvPr>
          <p:cNvPicPr>
            <a:picLocks noChangeAspect="1"/>
          </p:cNvPicPr>
          <p:nvPr/>
        </p:nvPicPr>
        <p:blipFill>
          <a:blip r:embed="rId7"/>
          <a:stretch>
            <a:fillRect/>
          </a:stretch>
        </p:blipFill>
        <p:spPr>
          <a:xfrm>
            <a:off x="10427441" y="6309312"/>
            <a:ext cx="1729890" cy="548688"/>
          </a:xfrm>
          <a:prstGeom prst="rect">
            <a:avLst/>
          </a:prstGeom>
        </p:spPr>
      </p:pic>
      <p:pic>
        <p:nvPicPr>
          <p:cNvPr id="23" name="Picture 22">
            <a:extLst>
              <a:ext uri="{FF2B5EF4-FFF2-40B4-BE49-F238E27FC236}">
                <a16:creationId xmlns:a16="http://schemas.microsoft.com/office/drawing/2014/main" id="{7B8AE918-3C83-F14C-B43C-38A534F8EECD}"/>
              </a:ext>
            </a:extLst>
          </p:cNvPr>
          <p:cNvPicPr>
            <a:picLocks noChangeAspect="1"/>
          </p:cNvPicPr>
          <p:nvPr/>
        </p:nvPicPr>
        <p:blipFill>
          <a:blip r:embed="rId8"/>
          <a:stretch>
            <a:fillRect/>
          </a:stretch>
        </p:blipFill>
        <p:spPr>
          <a:xfrm>
            <a:off x="10536414" y="0"/>
            <a:ext cx="1655281" cy="97473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09585" y="558800"/>
            <a:ext cx="2651753" cy="152400"/>
          </a:xfrm>
          <a:prstGeom prst="rect">
            <a:avLst/>
          </a:prstGeom>
          <a:noFill/>
          <a:ln/>
        </p:spPr>
        <p:txBody>
          <a:bodyPr wrap="none" lIns="0" tIns="0" rIns="0" bIns="0" rtlCol="0" anchor="t"/>
          <a:lstStyle/>
          <a:p>
            <a:pPr marL="0" indent="0" algn="l">
              <a:lnSpc>
                <a:spcPct val="100000"/>
              </a:lnSpc>
              <a:buNone/>
            </a:pPr>
            <a:r>
              <a:rPr lang="en-US" sz="1000" kern="0" spc="50" dirty="0">
                <a:solidFill>
                  <a:srgbClr val="676713"/>
                </a:solidFill>
                <a:latin typeface="Krona One" pitchFamily="34" charset="0"/>
                <a:ea typeface="Krona One" pitchFamily="34" charset="-122"/>
                <a:cs typeface="Krona One" pitchFamily="34" charset="-120"/>
              </a:rPr>
              <a:t>03 · ADVANTAGES</a:t>
            </a:r>
            <a:endParaRPr lang="en-US" sz="1000" dirty="0"/>
          </a:p>
        </p:txBody>
      </p:sp>
      <p:sp>
        <p:nvSpPr>
          <p:cNvPr id="3" name="Shape 1"/>
          <p:cNvSpPr/>
          <p:nvPr/>
        </p:nvSpPr>
        <p:spPr>
          <a:xfrm>
            <a:off x="3439034" y="619125"/>
            <a:ext cx="3977481" cy="31651"/>
          </a:xfrm>
          <a:prstGeom prst="roundRect">
            <a:avLst>
              <a:gd name="adj" fmla="val 49998"/>
            </a:avLst>
          </a:prstGeom>
          <a:solidFill>
            <a:srgbClr val="B7AC55"/>
          </a:solidFill>
          <a:ln/>
        </p:spPr>
      </p:sp>
      <p:sp>
        <p:nvSpPr>
          <p:cNvPr id="4" name="Text 2"/>
          <p:cNvSpPr/>
          <p:nvPr/>
        </p:nvSpPr>
        <p:spPr>
          <a:xfrm>
            <a:off x="609585" y="1120775"/>
            <a:ext cx="6807030" cy="782241"/>
          </a:xfrm>
          <a:prstGeom prst="rect">
            <a:avLst/>
          </a:prstGeom>
          <a:noFill/>
          <a:ln/>
        </p:spPr>
        <p:txBody>
          <a:bodyPr wrap="square" lIns="0" tIns="0" rIns="0" bIns="0" rtlCol="0" anchor="t">
            <a:normAutofit lnSpcReduction="10000"/>
          </a:bodyPr>
          <a:lstStyle/>
          <a:p>
            <a:pPr marL="0" indent="0" algn="l">
              <a:lnSpc>
                <a:spcPct val="92000"/>
              </a:lnSpc>
              <a:buNone/>
            </a:pPr>
            <a:r>
              <a:rPr lang="en-US" sz="2800" kern="0" spc="-56" dirty="0">
                <a:solidFill>
                  <a:srgbClr val="2E2F0E"/>
                </a:solidFill>
                <a:latin typeface="Krona One" pitchFamily="34" charset="0"/>
                <a:ea typeface="Krona One" pitchFamily="34" charset="-122"/>
                <a:cs typeface="Krona One" pitchFamily="34" charset="-120"/>
              </a:rPr>
              <a:t>Less confusion at the point of booking</a:t>
            </a:r>
            <a:endParaRPr lang="en-US" sz="2800" dirty="0"/>
          </a:p>
        </p:txBody>
      </p:sp>
      <p:sp>
        <p:nvSpPr>
          <p:cNvPr id="5" name="Text 3"/>
          <p:cNvSpPr/>
          <p:nvPr/>
        </p:nvSpPr>
        <p:spPr>
          <a:xfrm>
            <a:off x="609585" y="2141141"/>
            <a:ext cx="6807030" cy="317500"/>
          </a:xfrm>
          <a:prstGeom prst="rect">
            <a:avLst/>
          </a:prstGeom>
          <a:noFill/>
          <a:ln/>
        </p:spPr>
        <p:txBody>
          <a:bodyPr wrap="none" lIns="0" tIns="0" rIns="0" bIns="0" rtlCol="0" anchor="t"/>
          <a:lstStyle/>
          <a:p>
            <a:pPr marL="0" indent="0" algn="l">
              <a:lnSpc>
                <a:spcPct val="104000"/>
              </a:lnSpc>
              <a:buNone/>
            </a:pPr>
            <a:r>
              <a:rPr lang="en-US" sz="2000" dirty="0">
                <a:solidFill>
                  <a:srgbClr val="2E2F0E"/>
                </a:solidFill>
                <a:latin typeface="Space Grotesk SemiBold" pitchFamily="34" charset="0"/>
                <a:ea typeface="Space Grotesk SemiBold" pitchFamily="34" charset="-122"/>
                <a:cs typeface="Space Grotesk SemiBold" pitchFamily="34" charset="-120"/>
              </a:rPr>
              <a:t>Easy to use</a:t>
            </a:r>
            <a:endParaRPr lang="en-US" sz="2000" dirty="0"/>
          </a:p>
        </p:txBody>
      </p:sp>
      <p:sp>
        <p:nvSpPr>
          <p:cNvPr id="6" name="Text 4"/>
          <p:cNvSpPr/>
          <p:nvPr/>
        </p:nvSpPr>
        <p:spPr>
          <a:xfrm>
            <a:off x="609585" y="2630091"/>
            <a:ext cx="6807030" cy="239316"/>
          </a:xfrm>
          <a:prstGeom prst="rect">
            <a:avLst/>
          </a:prstGeom>
          <a:noFill/>
          <a:ln/>
        </p:spPr>
        <p:txBody>
          <a:bodyPr wrap="none" lIns="0" tIns="0" rIns="0" bIns="0" rtlCol="0" anchor="t"/>
          <a:lstStyle/>
          <a:p>
            <a:pPr marL="0" indent="0" algn="l">
              <a:lnSpc>
                <a:spcPct val="121000"/>
              </a:lnSpc>
              <a:buNone/>
            </a:pPr>
            <a:r>
              <a:rPr lang="en-US" sz="1300" dirty="0">
                <a:solidFill>
                  <a:srgbClr val="2E2F0E"/>
                </a:solidFill>
                <a:latin typeface="Space Grotesk" pitchFamily="34" charset="0"/>
                <a:ea typeface="Space Grotesk" pitchFamily="34" charset="-122"/>
                <a:cs typeface="Space Grotesk" pitchFamily="34" charset="-120"/>
              </a:rPr>
              <a:t>A menu-based console keeps the main actions direct.</a:t>
            </a:r>
            <a:endParaRPr lang="en-US" sz="1300" dirty="0"/>
          </a:p>
        </p:txBody>
      </p:sp>
      <p:sp>
        <p:nvSpPr>
          <p:cNvPr id="7" name="Text 5"/>
          <p:cNvSpPr/>
          <p:nvPr/>
        </p:nvSpPr>
        <p:spPr>
          <a:xfrm>
            <a:off x="609585" y="3283248"/>
            <a:ext cx="6807030" cy="317500"/>
          </a:xfrm>
          <a:prstGeom prst="rect">
            <a:avLst/>
          </a:prstGeom>
          <a:noFill/>
          <a:ln/>
        </p:spPr>
        <p:txBody>
          <a:bodyPr wrap="none" lIns="0" tIns="0" rIns="0" bIns="0" rtlCol="0" anchor="t"/>
          <a:lstStyle/>
          <a:p>
            <a:pPr marL="0" indent="0" algn="l">
              <a:lnSpc>
                <a:spcPct val="104000"/>
              </a:lnSpc>
              <a:buNone/>
            </a:pPr>
            <a:r>
              <a:rPr lang="en-US" sz="2000" dirty="0">
                <a:solidFill>
                  <a:srgbClr val="2E2F0E"/>
                </a:solidFill>
                <a:latin typeface="Space Grotesk SemiBold" pitchFamily="34" charset="0"/>
                <a:ea typeface="Space Grotesk SemiBold" pitchFamily="34" charset="-122"/>
                <a:cs typeface="Space Grotesk SemiBold" pitchFamily="34" charset="-120"/>
              </a:rPr>
              <a:t>Faster booking</a:t>
            </a:r>
            <a:endParaRPr lang="en-US" sz="2000" dirty="0"/>
          </a:p>
        </p:txBody>
      </p:sp>
      <p:sp>
        <p:nvSpPr>
          <p:cNvPr id="8" name="Text 6"/>
          <p:cNvSpPr/>
          <p:nvPr/>
        </p:nvSpPr>
        <p:spPr>
          <a:xfrm>
            <a:off x="609585" y="3772198"/>
            <a:ext cx="6807030" cy="239316"/>
          </a:xfrm>
          <a:prstGeom prst="rect">
            <a:avLst/>
          </a:prstGeom>
          <a:noFill/>
          <a:ln/>
        </p:spPr>
        <p:txBody>
          <a:bodyPr wrap="none" lIns="0" tIns="0" rIns="0" bIns="0" rtlCol="0" anchor="t"/>
          <a:lstStyle/>
          <a:p>
            <a:pPr marL="0" indent="0" algn="l">
              <a:lnSpc>
                <a:spcPct val="121000"/>
              </a:lnSpc>
              <a:buNone/>
            </a:pPr>
            <a:r>
              <a:rPr lang="en-US" sz="1300" dirty="0">
                <a:solidFill>
                  <a:srgbClr val="2E2F0E"/>
                </a:solidFill>
                <a:latin typeface="Space Grotesk" pitchFamily="34" charset="0"/>
                <a:ea typeface="Space Grotesk" pitchFamily="34" charset="-122"/>
                <a:cs typeface="Space Grotesk" pitchFamily="34" charset="-120"/>
              </a:rPr>
              <a:t>Users can check and reserve a seat without manual tracking.</a:t>
            </a:r>
            <a:endParaRPr lang="en-US" sz="1300" dirty="0"/>
          </a:p>
        </p:txBody>
      </p:sp>
      <p:sp>
        <p:nvSpPr>
          <p:cNvPr id="9" name="Text 7"/>
          <p:cNvSpPr/>
          <p:nvPr/>
        </p:nvSpPr>
        <p:spPr>
          <a:xfrm>
            <a:off x="609585" y="4425454"/>
            <a:ext cx="6807030" cy="317500"/>
          </a:xfrm>
          <a:prstGeom prst="rect">
            <a:avLst/>
          </a:prstGeom>
          <a:noFill/>
          <a:ln/>
        </p:spPr>
        <p:txBody>
          <a:bodyPr wrap="none" lIns="0" tIns="0" rIns="0" bIns="0" rtlCol="0" anchor="t"/>
          <a:lstStyle/>
          <a:p>
            <a:pPr marL="0" indent="0" algn="l">
              <a:lnSpc>
                <a:spcPct val="104000"/>
              </a:lnSpc>
              <a:buNone/>
            </a:pPr>
            <a:r>
              <a:rPr lang="en-US" sz="2000" dirty="0">
                <a:solidFill>
                  <a:srgbClr val="2E2F0E"/>
                </a:solidFill>
                <a:latin typeface="Space Grotesk SemiBold" pitchFamily="34" charset="0"/>
                <a:ea typeface="Space Grotesk SemiBold" pitchFamily="34" charset="-122"/>
                <a:cs typeface="Space Grotesk SemiBold" pitchFamily="34" charset="-120"/>
              </a:rPr>
              <a:t>Fewer errors</a:t>
            </a:r>
            <a:endParaRPr lang="en-US" sz="2000" dirty="0"/>
          </a:p>
        </p:txBody>
      </p:sp>
      <p:sp>
        <p:nvSpPr>
          <p:cNvPr id="10" name="Text 8"/>
          <p:cNvSpPr/>
          <p:nvPr/>
        </p:nvSpPr>
        <p:spPr>
          <a:xfrm>
            <a:off x="609585" y="4914404"/>
            <a:ext cx="6807030" cy="239316"/>
          </a:xfrm>
          <a:prstGeom prst="rect">
            <a:avLst/>
          </a:prstGeom>
          <a:noFill/>
          <a:ln/>
        </p:spPr>
        <p:txBody>
          <a:bodyPr wrap="none" lIns="0" tIns="0" rIns="0" bIns="0" rtlCol="0" anchor="t"/>
          <a:lstStyle/>
          <a:p>
            <a:pPr marL="0" indent="0" algn="l">
              <a:lnSpc>
                <a:spcPct val="121000"/>
              </a:lnSpc>
              <a:buNone/>
            </a:pPr>
            <a:r>
              <a:rPr lang="en-US" sz="1300" dirty="0">
                <a:solidFill>
                  <a:srgbClr val="2E2F0E"/>
                </a:solidFill>
                <a:latin typeface="Space Grotesk" pitchFamily="34" charset="0"/>
                <a:ea typeface="Space Grotesk" pitchFamily="34" charset="-122"/>
                <a:cs typeface="Space Grotesk" pitchFamily="34" charset="-120"/>
              </a:rPr>
              <a:t>Validation and double-booking prevention support accurate choices.</a:t>
            </a:r>
            <a:endParaRPr lang="en-US" sz="1300" dirty="0"/>
          </a:p>
        </p:txBody>
      </p:sp>
      <p:sp>
        <p:nvSpPr>
          <p:cNvPr id="11" name="Text 9"/>
          <p:cNvSpPr/>
          <p:nvPr/>
        </p:nvSpPr>
        <p:spPr>
          <a:xfrm>
            <a:off x="609585" y="5563394"/>
            <a:ext cx="6807030" cy="317500"/>
          </a:xfrm>
          <a:prstGeom prst="rect">
            <a:avLst/>
          </a:prstGeom>
          <a:noFill/>
          <a:ln/>
        </p:spPr>
        <p:txBody>
          <a:bodyPr wrap="none" lIns="0" tIns="0" rIns="0" bIns="0" rtlCol="0" anchor="t"/>
          <a:lstStyle/>
          <a:p>
            <a:pPr marL="0" indent="0" algn="l">
              <a:lnSpc>
                <a:spcPct val="104000"/>
              </a:lnSpc>
              <a:buNone/>
            </a:pPr>
            <a:r>
              <a:rPr lang="en-US" sz="2000" dirty="0">
                <a:solidFill>
                  <a:srgbClr val="2E2F0E"/>
                </a:solidFill>
                <a:latin typeface="Space Grotesk SemiBold" pitchFamily="34" charset="0"/>
                <a:ea typeface="Space Grotesk SemiBold" pitchFamily="34" charset="-122"/>
                <a:cs typeface="Space Grotesk SemiBold" pitchFamily="34" charset="-120"/>
              </a:rPr>
              <a:t>Organized information</a:t>
            </a:r>
            <a:endParaRPr lang="en-US" sz="2000" dirty="0"/>
          </a:p>
        </p:txBody>
      </p:sp>
      <p:sp>
        <p:nvSpPr>
          <p:cNvPr id="12" name="Text 10"/>
          <p:cNvSpPr/>
          <p:nvPr/>
        </p:nvSpPr>
        <p:spPr>
          <a:xfrm>
            <a:off x="609585" y="6052344"/>
            <a:ext cx="6807030" cy="239316"/>
          </a:xfrm>
          <a:prstGeom prst="rect">
            <a:avLst/>
          </a:prstGeom>
          <a:noFill/>
          <a:ln/>
        </p:spPr>
        <p:txBody>
          <a:bodyPr wrap="none" lIns="0" tIns="0" rIns="0" bIns="0" rtlCol="0" anchor="t"/>
          <a:lstStyle/>
          <a:p>
            <a:pPr marL="0" indent="0" algn="l">
              <a:lnSpc>
                <a:spcPct val="121000"/>
              </a:lnSpc>
              <a:buNone/>
            </a:pPr>
            <a:r>
              <a:rPr lang="en-US" sz="1300" dirty="0">
                <a:solidFill>
                  <a:srgbClr val="2E2F0E"/>
                </a:solidFill>
                <a:latin typeface="Space Grotesk" pitchFamily="34" charset="0"/>
                <a:ea typeface="Space Grotesk" pitchFamily="34" charset="-122"/>
                <a:cs typeface="Space Grotesk" pitchFamily="34" charset="-120"/>
              </a:rPr>
              <a:t>Availability, cancellation, and booking details stay in one flow.</a:t>
            </a:r>
            <a:endParaRPr lang="en-US" sz="1300" dirty="0"/>
          </a:p>
        </p:txBody>
      </p:sp>
      <p:pic>
        <p:nvPicPr>
          <p:cNvPr id="13" name="Image 0" descr="preencoded.png"/>
          <p:cNvPicPr>
            <a:picLocks noChangeAspect="1"/>
          </p:cNvPicPr>
          <p:nvPr/>
        </p:nvPicPr>
        <p:blipFill>
          <a:blip r:embed="rId3"/>
          <a:stretch>
            <a:fillRect/>
          </a:stretch>
        </p:blipFill>
        <p:spPr>
          <a:xfrm>
            <a:off x="7721407" y="0"/>
            <a:ext cx="4470288" cy="6858000"/>
          </a:xfrm>
          <a:prstGeom prst="rect">
            <a:avLst/>
          </a:prstGeom>
        </p:spPr>
      </p:pic>
      <p:sp>
        <p:nvSpPr>
          <p:cNvPr id="14" name="Shape 11"/>
          <p:cNvSpPr/>
          <p:nvPr/>
        </p:nvSpPr>
        <p:spPr>
          <a:xfrm>
            <a:off x="609585" y="3149898"/>
            <a:ext cx="6807030" cy="12700"/>
          </a:xfrm>
          <a:prstGeom prst="rect">
            <a:avLst/>
          </a:prstGeom>
          <a:solidFill>
            <a:srgbClr val="676713"/>
          </a:solidFill>
          <a:ln/>
        </p:spPr>
      </p:sp>
      <p:sp>
        <p:nvSpPr>
          <p:cNvPr id="15" name="Shape 12"/>
          <p:cNvSpPr/>
          <p:nvPr/>
        </p:nvSpPr>
        <p:spPr>
          <a:xfrm>
            <a:off x="609585" y="4292104"/>
            <a:ext cx="6807030" cy="12700"/>
          </a:xfrm>
          <a:prstGeom prst="rect">
            <a:avLst/>
          </a:prstGeom>
          <a:solidFill>
            <a:srgbClr val="676713"/>
          </a:solidFill>
          <a:ln/>
        </p:spPr>
      </p:sp>
      <p:sp>
        <p:nvSpPr>
          <p:cNvPr id="16" name="Shape 13"/>
          <p:cNvSpPr/>
          <p:nvPr/>
        </p:nvSpPr>
        <p:spPr>
          <a:xfrm>
            <a:off x="609585" y="5430044"/>
            <a:ext cx="6807030" cy="12700"/>
          </a:xfrm>
          <a:prstGeom prst="rect">
            <a:avLst/>
          </a:prstGeom>
          <a:solidFill>
            <a:srgbClr val="676713"/>
          </a:solidFill>
          <a:ln/>
        </p:spPr>
      </p:sp>
      <p:sp>
        <p:nvSpPr>
          <p:cNvPr id="17" name="Text 14"/>
          <p:cNvSpPr/>
          <p:nvPr/>
        </p:nvSpPr>
        <p:spPr>
          <a:xfrm>
            <a:off x="609585" y="6461125"/>
            <a:ext cx="770414" cy="184150"/>
          </a:xfrm>
          <a:prstGeom prst="rect">
            <a:avLst/>
          </a:prstGeom>
          <a:noFill/>
          <a:ln/>
        </p:spPr>
        <p:txBody>
          <a:bodyPr wrap="none" lIns="0" tIns="0" rIns="0" bIns="0" rtlCol="0" anchor="ctr"/>
          <a:lstStyle/>
          <a:p>
            <a:pPr marL="0" indent="0" algn="l">
              <a:lnSpc>
                <a:spcPct val="121000"/>
              </a:lnSpc>
              <a:buNone/>
            </a:pPr>
            <a:r>
              <a:rPr lang="en-US" sz="1000" dirty="0">
                <a:solidFill>
                  <a:srgbClr val="2E2F0E"/>
                </a:solidFill>
                <a:latin typeface="Space Grotesk" pitchFamily="34" charset="0"/>
                <a:ea typeface="Space Grotesk" pitchFamily="34" charset="-122"/>
                <a:cs typeface="Space Grotesk" pitchFamily="34" charset="-120"/>
              </a:rPr>
              <a:t>04</a:t>
            </a:r>
            <a:endParaRPr lang="en-US" sz="1000" dirty="0"/>
          </a:p>
        </p:txBody>
      </p:sp>
      <p:pic>
        <p:nvPicPr>
          <p:cNvPr id="19" name="Picture 18">
            <a:extLst>
              <a:ext uri="{FF2B5EF4-FFF2-40B4-BE49-F238E27FC236}">
                <a16:creationId xmlns:a16="http://schemas.microsoft.com/office/drawing/2014/main" id="{240FD115-8707-52E7-0F27-1BD9E6F9F80D}"/>
              </a:ext>
            </a:extLst>
          </p:cNvPr>
          <p:cNvPicPr>
            <a:picLocks noChangeAspect="1"/>
          </p:cNvPicPr>
          <p:nvPr/>
        </p:nvPicPr>
        <p:blipFill>
          <a:blip r:embed="rId4"/>
          <a:stretch>
            <a:fillRect/>
          </a:stretch>
        </p:blipFill>
        <p:spPr>
          <a:xfrm>
            <a:off x="10461805" y="6278856"/>
            <a:ext cx="1729890" cy="548688"/>
          </a:xfrm>
          <a:prstGeom prst="rect">
            <a:avLst/>
          </a:prstGeom>
        </p:spPr>
      </p:pic>
      <p:pic>
        <p:nvPicPr>
          <p:cNvPr id="20" name="Picture 19">
            <a:extLst>
              <a:ext uri="{FF2B5EF4-FFF2-40B4-BE49-F238E27FC236}">
                <a16:creationId xmlns:a16="http://schemas.microsoft.com/office/drawing/2014/main" id="{2021E3CD-7B3A-DF76-08BD-8A4D73BE66B4}"/>
              </a:ext>
            </a:extLst>
          </p:cNvPr>
          <p:cNvPicPr>
            <a:picLocks noChangeAspect="1"/>
          </p:cNvPicPr>
          <p:nvPr/>
        </p:nvPicPr>
        <p:blipFill>
          <a:blip r:embed="rId5"/>
          <a:stretch>
            <a:fillRect/>
          </a:stretch>
        </p:blipFill>
        <p:spPr>
          <a:xfrm>
            <a:off x="10536719" y="0"/>
            <a:ext cx="1655281" cy="97473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09585" y="809823"/>
            <a:ext cx="7111822" cy="152400"/>
          </a:xfrm>
          <a:prstGeom prst="rect">
            <a:avLst/>
          </a:prstGeom>
          <a:noFill/>
          <a:ln/>
        </p:spPr>
        <p:txBody>
          <a:bodyPr wrap="none" lIns="0" tIns="0" rIns="0" bIns="0" rtlCol="0" anchor="t"/>
          <a:lstStyle/>
          <a:p>
            <a:pPr marL="0" indent="0" algn="l">
              <a:lnSpc>
                <a:spcPct val="100000"/>
              </a:lnSpc>
              <a:buNone/>
            </a:pPr>
            <a:r>
              <a:rPr lang="en-US" sz="1000" kern="0" spc="50" dirty="0">
                <a:solidFill>
                  <a:srgbClr val="B7AC55"/>
                </a:solidFill>
                <a:latin typeface="Krona One" pitchFamily="34" charset="0"/>
                <a:ea typeface="Krona One" pitchFamily="34" charset="-122"/>
                <a:cs typeface="Krona One" pitchFamily="34" charset="-120"/>
              </a:rPr>
              <a:t>04 · LIMITATIONS</a:t>
            </a:r>
            <a:endParaRPr lang="en-US" sz="1000" dirty="0"/>
          </a:p>
        </p:txBody>
      </p:sp>
      <p:sp>
        <p:nvSpPr>
          <p:cNvPr id="3" name="Text 1"/>
          <p:cNvSpPr/>
          <p:nvPr/>
        </p:nvSpPr>
        <p:spPr>
          <a:xfrm>
            <a:off x="609585" y="1060648"/>
            <a:ext cx="6502237" cy="1981200"/>
          </a:xfrm>
          <a:prstGeom prst="rect">
            <a:avLst/>
          </a:prstGeom>
          <a:noFill/>
          <a:ln/>
        </p:spPr>
        <p:txBody>
          <a:bodyPr wrap="square" lIns="0" tIns="0" rIns="0" bIns="0" rtlCol="0" anchor="t">
            <a:normAutofit/>
          </a:bodyPr>
          <a:lstStyle/>
          <a:p>
            <a:pPr marL="0" indent="0" algn="l">
              <a:lnSpc>
                <a:spcPct val="83000"/>
              </a:lnSpc>
              <a:buNone/>
            </a:pPr>
            <a:r>
              <a:rPr lang="en-US" sz="5200" kern="0" spc="-156" dirty="0">
                <a:solidFill>
                  <a:srgbClr val="F2E6D2"/>
                </a:solidFill>
                <a:latin typeface="Krona One" pitchFamily="34" charset="0"/>
                <a:ea typeface="Krona One" pitchFamily="34" charset="-122"/>
                <a:cs typeface="Krona One" pitchFamily="34" charset="-120"/>
              </a:rPr>
              <a:t>Useful locally.</a:t>
            </a:r>
            <a:endParaRPr lang="en-US" sz="5200" dirty="0"/>
          </a:p>
          <a:p>
            <a:pPr marL="0" indent="0" algn="l">
              <a:lnSpc>
                <a:spcPct val="83000"/>
              </a:lnSpc>
              <a:buNone/>
            </a:pPr>
            <a:r>
              <a:rPr lang="en-US" sz="5200" kern="0" spc="-156" dirty="0">
                <a:solidFill>
                  <a:srgbClr val="F2E6D2"/>
                </a:solidFill>
                <a:latin typeface="Krona One" pitchFamily="34" charset="0"/>
                <a:ea typeface="Krona One" pitchFamily="34" charset="-122"/>
                <a:cs typeface="Krona One" pitchFamily="34" charset="-120"/>
              </a:rPr>
              <a:t>Not yet a full platform.</a:t>
            </a:r>
            <a:endParaRPr lang="en-US" sz="5200" dirty="0"/>
          </a:p>
        </p:txBody>
      </p:sp>
      <p:sp>
        <p:nvSpPr>
          <p:cNvPr id="4" name="Shape 2"/>
          <p:cNvSpPr/>
          <p:nvPr/>
        </p:nvSpPr>
        <p:spPr>
          <a:xfrm>
            <a:off x="609585" y="3327598"/>
            <a:ext cx="609585" cy="38100"/>
          </a:xfrm>
          <a:prstGeom prst="roundRect">
            <a:avLst>
              <a:gd name="adj" fmla="val 49999"/>
            </a:avLst>
          </a:prstGeom>
          <a:solidFill>
            <a:srgbClr val="C71D1A"/>
          </a:solidFill>
          <a:ln/>
        </p:spPr>
      </p:sp>
      <p:sp>
        <p:nvSpPr>
          <p:cNvPr id="5" name="Text 3"/>
          <p:cNvSpPr/>
          <p:nvPr/>
        </p:nvSpPr>
        <p:spPr>
          <a:xfrm>
            <a:off x="609585" y="3629223"/>
            <a:ext cx="6502237" cy="331391"/>
          </a:xfrm>
          <a:prstGeom prst="rect">
            <a:avLst/>
          </a:prstGeom>
          <a:noFill/>
          <a:ln/>
        </p:spPr>
        <p:txBody>
          <a:bodyPr wrap="none" lIns="0" tIns="0" rIns="0" bIns="0" rtlCol="0" anchor="t"/>
          <a:lstStyle/>
          <a:p>
            <a:pPr marL="0" indent="0" algn="l">
              <a:lnSpc>
                <a:spcPct val="121000"/>
              </a:lnSpc>
              <a:buNone/>
            </a:pPr>
            <a:r>
              <a:rPr lang="en-US" sz="1800" dirty="0">
                <a:solidFill>
                  <a:srgbClr val="B7AF97"/>
                </a:solidFill>
                <a:latin typeface="Space Grotesk" pitchFamily="34" charset="0"/>
                <a:ea typeface="Space Grotesk" pitchFamily="34" charset="-122"/>
                <a:cs typeface="Space Grotesk" pitchFamily="34" charset="-120"/>
              </a:rPr>
              <a:t>Console interface only</a:t>
            </a:r>
            <a:endParaRPr lang="en-US" sz="1800" dirty="0"/>
          </a:p>
        </p:txBody>
      </p:sp>
      <p:sp>
        <p:nvSpPr>
          <p:cNvPr id="6" name="Text 4"/>
          <p:cNvSpPr/>
          <p:nvPr/>
        </p:nvSpPr>
        <p:spPr>
          <a:xfrm>
            <a:off x="609585" y="4214614"/>
            <a:ext cx="6502237" cy="331391"/>
          </a:xfrm>
          <a:prstGeom prst="rect">
            <a:avLst/>
          </a:prstGeom>
          <a:noFill/>
          <a:ln/>
        </p:spPr>
        <p:txBody>
          <a:bodyPr wrap="none" lIns="0" tIns="0" rIns="0" bIns="0" rtlCol="0" anchor="t"/>
          <a:lstStyle/>
          <a:p>
            <a:pPr marL="0" indent="0" algn="l">
              <a:lnSpc>
                <a:spcPct val="121000"/>
              </a:lnSpc>
              <a:buNone/>
            </a:pPr>
            <a:r>
              <a:rPr lang="en-US" sz="1800" dirty="0">
                <a:solidFill>
                  <a:srgbClr val="B7AF97"/>
                </a:solidFill>
                <a:latin typeface="Space Grotesk" pitchFamily="34" charset="0"/>
                <a:ea typeface="Space Grotesk" pitchFamily="34" charset="-122"/>
                <a:cs typeface="Space Grotesk" pitchFamily="34" charset="-120"/>
              </a:rPr>
              <a:t>No graphical user interface</a:t>
            </a:r>
            <a:endParaRPr lang="en-US" sz="1800" dirty="0"/>
          </a:p>
        </p:txBody>
      </p:sp>
      <p:sp>
        <p:nvSpPr>
          <p:cNvPr id="7" name="Text 5"/>
          <p:cNvSpPr/>
          <p:nvPr/>
        </p:nvSpPr>
        <p:spPr>
          <a:xfrm>
            <a:off x="609585" y="4800005"/>
            <a:ext cx="6502237" cy="331391"/>
          </a:xfrm>
          <a:prstGeom prst="rect">
            <a:avLst/>
          </a:prstGeom>
          <a:noFill/>
          <a:ln/>
        </p:spPr>
        <p:txBody>
          <a:bodyPr wrap="none" lIns="0" tIns="0" rIns="0" bIns="0" rtlCol="0" anchor="t"/>
          <a:lstStyle/>
          <a:p>
            <a:pPr marL="0" indent="0" algn="l">
              <a:lnSpc>
                <a:spcPct val="121000"/>
              </a:lnSpc>
              <a:buNone/>
            </a:pPr>
            <a:r>
              <a:rPr lang="en-US" sz="1800" dirty="0">
                <a:solidFill>
                  <a:srgbClr val="B7AF97"/>
                </a:solidFill>
                <a:latin typeface="Space Grotesk" pitchFamily="34" charset="0"/>
                <a:ea typeface="Space Grotesk" pitchFamily="34" charset="-122"/>
                <a:cs typeface="Space Grotesk" pitchFamily="34" charset="-120"/>
              </a:rPr>
              <a:t>No database or online payment</a:t>
            </a:r>
            <a:endParaRPr lang="en-US" sz="1800" dirty="0"/>
          </a:p>
        </p:txBody>
      </p:sp>
      <p:sp>
        <p:nvSpPr>
          <p:cNvPr id="8" name="Text 6"/>
          <p:cNvSpPr/>
          <p:nvPr/>
        </p:nvSpPr>
        <p:spPr>
          <a:xfrm>
            <a:off x="609585" y="5385395"/>
            <a:ext cx="6502237" cy="662781"/>
          </a:xfrm>
          <a:prstGeom prst="rect">
            <a:avLst/>
          </a:prstGeom>
          <a:noFill/>
          <a:ln/>
        </p:spPr>
        <p:txBody>
          <a:bodyPr wrap="square" lIns="0" tIns="0" rIns="0" bIns="0" rtlCol="0" anchor="t">
            <a:normAutofit/>
          </a:bodyPr>
          <a:lstStyle/>
          <a:p>
            <a:pPr marL="0" indent="0" algn="l">
              <a:lnSpc>
                <a:spcPct val="121000"/>
              </a:lnSpc>
              <a:buNone/>
            </a:pPr>
            <a:r>
              <a:rPr lang="en-US" sz="1800" dirty="0">
                <a:solidFill>
                  <a:srgbClr val="B7AF97"/>
                </a:solidFill>
                <a:latin typeface="Space Grotesk" pitchFamily="34" charset="0"/>
                <a:ea typeface="Space Grotesk" pitchFamily="34" charset="-122"/>
                <a:cs typeface="Space Grotesk" pitchFamily="34" charset="-120"/>
              </a:rPr>
              <a:t>Local execution and no permanent storage after the program ends</a:t>
            </a:r>
            <a:endParaRPr lang="en-US" sz="1800" dirty="0"/>
          </a:p>
        </p:txBody>
      </p:sp>
      <p:pic>
        <p:nvPicPr>
          <p:cNvPr id="9" name="Image 0" descr="preencoded.png"/>
          <p:cNvPicPr>
            <a:picLocks noChangeAspect="1"/>
          </p:cNvPicPr>
          <p:nvPr/>
        </p:nvPicPr>
        <p:blipFill>
          <a:blip r:embed="rId3"/>
          <a:stretch>
            <a:fillRect/>
          </a:stretch>
        </p:blipFill>
        <p:spPr>
          <a:xfrm>
            <a:off x="7721407" y="0"/>
            <a:ext cx="4470288" cy="6858000"/>
          </a:xfrm>
          <a:prstGeom prst="rect">
            <a:avLst/>
          </a:prstGeom>
        </p:spPr>
      </p:pic>
      <p:sp>
        <p:nvSpPr>
          <p:cNvPr id="10" name="Shape 7"/>
          <p:cNvSpPr/>
          <p:nvPr/>
        </p:nvSpPr>
        <p:spPr>
          <a:xfrm>
            <a:off x="609585" y="4081264"/>
            <a:ext cx="6502237" cy="12700"/>
          </a:xfrm>
          <a:prstGeom prst="rect">
            <a:avLst/>
          </a:prstGeom>
          <a:solidFill>
            <a:srgbClr val="676713"/>
          </a:solidFill>
          <a:ln/>
        </p:spPr>
      </p:sp>
      <p:sp>
        <p:nvSpPr>
          <p:cNvPr id="11" name="Shape 8"/>
          <p:cNvSpPr/>
          <p:nvPr/>
        </p:nvSpPr>
        <p:spPr>
          <a:xfrm>
            <a:off x="609585" y="4666655"/>
            <a:ext cx="6502237" cy="12700"/>
          </a:xfrm>
          <a:prstGeom prst="rect">
            <a:avLst/>
          </a:prstGeom>
          <a:solidFill>
            <a:srgbClr val="676713"/>
          </a:solidFill>
          <a:ln/>
        </p:spPr>
      </p:sp>
      <p:sp>
        <p:nvSpPr>
          <p:cNvPr id="12" name="Shape 9"/>
          <p:cNvSpPr/>
          <p:nvPr/>
        </p:nvSpPr>
        <p:spPr>
          <a:xfrm>
            <a:off x="609585" y="5252045"/>
            <a:ext cx="6502237" cy="12700"/>
          </a:xfrm>
          <a:prstGeom prst="rect">
            <a:avLst/>
          </a:prstGeom>
          <a:solidFill>
            <a:srgbClr val="676713"/>
          </a:solidFill>
          <a:ln/>
        </p:spPr>
      </p:sp>
      <p:pic>
        <p:nvPicPr>
          <p:cNvPr id="14" name="Picture 13">
            <a:extLst>
              <a:ext uri="{FF2B5EF4-FFF2-40B4-BE49-F238E27FC236}">
                <a16:creationId xmlns:a16="http://schemas.microsoft.com/office/drawing/2014/main" id="{49468767-3514-104E-D386-64CABFEB5B57}"/>
              </a:ext>
            </a:extLst>
          </p:cNvPr>
          <p:cNvPicPr>
            <a:picLocks noChangeAspect="1"/>
          </p:cNvPicPr>
          <p:nvPr/>
        </p:nvPicPr>
        <p:blipFill>
          <a:blip r:embed="rId4"/>
          <a:stretch>
            <a:fillRect/>
          </a:stretch>
        </p:blipFill>
        <p:spPr>
          <a:xfrm>
            <a:off x="10850764" y="6447730"/>
            <a:ext cx="1341236" cy="396274"/>
          </a:xfrm>
          <a:prstGeom prst="rect">
            <a:avLst/>
          </a:prstGeom>
        </p:spPr>
      </p:pic>
      <p:pic>
        <p:nvPicPr>
          <p:cNvPr id="15" name="Picture 14">
            <a:extLst>
              <a:ext uri="{FF2B5EF4-FFF2-40B4-BE49-F238E27FC236}">
                <a16:creationId xmlns:a16="http://schemas.microsoft.com/office/drawing/2014/main" id="{3DA99C7B-0E07-9EE9-808D-EAF2C85A84B7}"/>
              </a:ext>
            </a:extLst>
          </p:cNvPr>
          <p:cNvPicPr>
            <a:picLocks noChangeAspect="1"/>
          </p:cNvPicPr>
          <p:nvPr/>
        </p:nvPicPr>
        <p:blipFill>
          <a:blip r:embed="rId5"/>
          <a:stretch>
            <a:fillRect/>
          </a:stretch>
        </p:blipFill>
        <p:spPr>
          <a:xfrm>
            <a:off x="10536719" y="-12509"/>
            <a:ext cx="1655281" cy="97473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09585" y="1145877"/>
            <a:ext cx="3598276" cy="152400"/>
          </a:xfrm>
          <a:prstGeom prst="rect">
            <a:avLst/>
          </a:prstGeom>
          <a:noFill/>
          <a:ln/>
        </p:spPr>
        <p:txBody>
          <a:bodyPr wrap="none" lIns="0" tIns="0" rIns="0" bIns="0" rtlCol="0" anchor="t"/>
          <a:lstStyle/>
          <a:p>
            <a:pPr marL="0" indent="0" algn="l">
              <a:lnSpc>
                <a:spcPct val="100000"/>
              </a:lnSpc>
              <a:buNone/>
            </a:pPr>
            <a:r>
              <a:rPr lang="en-US" sz="1000" kern="0" spc="50" dirty="0">
                <a:solidFill>
                  <a:srgbClr val="676713"/>
                </a:solidFill>
                <a:latin typeface="Krona One" pitchFamily="34" charset="0"/>
                <a:ea typeface="Krona One" pitchFamily="34" charset="-122"/>
                <a:cs typeface="Krona One" pitchFamily="34" charset="-120"/>
              </a:rPr>
              <a:t>05 · PROJECT DEVELOPMENT</a:t>
            </a:r>
            <a:endParaRPr lang="en-US" sz="1000" dirty="0"/>
          </a:p>
        </p:txBody>
      </p:sp>
      <p:sp>
        <p:nvSpPr>
          <p:cNvPr id="3" name="Shape 1"/>
          <p:cNvSpPr/>
          <p:nvPr/>
        </p:nvSpPr>
        <p:spPr>
          <a:xfrm>
            <a:off x="4385557" y="1206202"/>
            <a:ext cx="7196454" cy="31651"/>
          </a:xfrm>
          <a:prstGeom prst="roundRect">
            <a:avLst>
              <a:gd name="adj" fmla="val 49998"/>
            </a:avLst>
          </a:prstGeom>
          <a:solidFill>
            <a:srgbClr val="B7AC55"/>
          </a:solidFill>
          <a:ln/>
        </p:spPr>
      </p:sp>
      <p:sp>
        <p:nvSpPr>
          <p:cNvPr id="4" name="Text 2"/>
          <p:cNvSpPr/>
          <p:nvPr/>
        </p:nvSpPr>
        <p:spPr>
          <a:xfrm>
            <a:off x="609585" y="1707852"/>
            <a:ext cx="8889778" cy="391120"/>
          </a:xfrm>
          <a:prstGeom prst="rect">
            <a:avLst/>
          </a:prstGeom>
          <a:noFill/>
          <a:ln/>
        </p:spPr>
        <p:txBody>
          <a:bodyPr wrap="none" lIns="0" tIns="0" rIns="0" bIns="0" rtlCol="0" anchor="t"/>
          <a:lstStyle/>
          <a:p>
            <a:pPr marL="0" indent="0" algn="l">
              <a:lnSpc>
                <a:spcPct val="92000"/>
              </a:lnSpc>
              <a:buNone/>
            </a:pPr>
            <a:r>
              <a:rPr lang="en-US" sz="2800" kern="0" spc="-56" dirty="0">
                <a:solidFill>
                  <a:srgbClr val="2E2F0E"/>
                </a:solidFill>
                <a:latin typeface="Krona One" pitchFamily="34" charset="0"/>
                <a:ea typeface="Krona One" pitchFamily="34" charset="-122"/>
                <a:cs typeface="Krona One" pitchFamily="34" charset="-120"/>
              </a:rPr>
              <a:t>Built in small, testable steps</a:t>
            </a:r>
            <a:endParaRPr lang="en-US" sz="2800" dirty="0"/>
          </a:p>
        </p:txBody>
      </p:sp>
      <p:sp>
        <p:nvSpPr>
          <p:cNvPr id="5" name="Shape 3"/>
          <p:cNvSpPr/>
          <p:nvPr/>
        </p:nvSpPr>
        <p:spPr>
          <a:xfrm>
            <a:off x="609585" y="4013498"/>
            <a:ext cx="10972526" cy="28575"/>
          </a:xfrm>
          <a:prstGeom prst="roundRect">
            <a:avLst>
              <a:gd name="adj" fmla="val 49999"/>
            </a:avLst>
          </a:prstGeom>
          <a:solidFill>
            <a:srgbClr val="676713"/>
          </a:solidFill>
          <a:ln/>
        </p:spPr>
      </p:sp>
      <p:sp>
        <p:nvSpPr>
          <p:cNvPr id="6" name="Shape 4"/>
          <p:cNvSpPr/>
          <p:nvPr/>
        </p:nvSpPr>
        <p:spPr>
          <a:xfrm>
            <a:off x="2344679" y="3441998"/>
            <a:ext cx="28574" cy="571500"/>
          </a:xfrm>
          <a:prstGeom prst="roundRect">
            <a:avLst>
              <a:gd name="adj" fmla="val 50000"/>
            </a:avLst>
          </a:prstGeom>
          <a:solidFill>
            <a:srgbClr val="538ACD"/>
          </a:solidFill>
          <a:ln/>
        </p:spPr>
      </p:sp>
      <p:sp>
        <p:nvSpPr>
          <p:cNvPr id="7" name="Shape 5"/>
          <p:cNvSpPr/>
          <p:nvPr/>
        </p:nvSpPr>
        <p:spPr>
          <a:xfrm>
            <a:off x="2144659" y="3799185"/>
            <a:ext cx="428614" cy="428625"/>
          </a:xfrm>
          <a:prstGeom prst="roundRect">
            <a:avLst>
              <a:gd name="adj" fmla="val 6667"/>
            </a:avLst>
          </a:prstGeom>
          <a:solidFill>
            <a:srgbClr val="6DA4E7"/>
          </a:solidFill>
          <a:ln/>
        </p:spPr>
      </p:sp>
      <p:sp>
        <p:nvSpPr>
          <p:cNvPr id="8" name="Text 6"/>
          <p:cNvSpPr/>
          <p:nvPr/>
        </p:nvSpPr>
        <p:spPr>
          <a:xfrm>
            <a:off x="2216095" y="3856335"/>
            <a:ext cx="285743" cy="314325"/>
          </a:xfrm>
          <a:prstGeom prst="rect">
            <a:avLst/>
          </a:prstGeom>
          <a:noFill/>
          <a:ln/>
        </p:spPr>
        <p:txBody>
          <a:bodyPr wrap="none" lIns="0" tIns="0" rIns="0" bIns="0" rtlCol="0" anchor="ctr"/>
          <a:lstStyle/>
          <a:p>
            <a:pPr marL="0" indent="0" algn="ctr">
              <a:lnSpc>
                <a:spcPct val="100000"/>
              </a:lnSpc>
              <a:buNone/>
            </a:pPr>
            <a:r>
              <a:rPr lang="en-US" sz="2250" kern="0" spc="-45" dirty="0">
                <a:solidFill>
                  <a:srgbClr val="000000"/>
                </a:solidFill>
                <a:latin typeface="Krona One" pitchFamily="34" charset="0"/>
                <a:ea typeface="Krona One" pitchFamily="34" charset="-122"/>
                <a:cs typeface="Krona One" pitchFamily="34" charset="-120"/>
              </a:rPr>
              <a:t>1</a:t>
            </a:r>
            <a:endParaRPr lang="en-US" sz="2250" dirty="0"/>
          </a:p>
        </p:txBody>
      </p:sp>
      <p:sp>
        <p:nvSpPr>
          <p:cNvPr id="9" name="Text 7"/>
          <p:cNvSpPr/>
          <p:nvPr/>
        </p:nvSpPr>
        <p:spPr>
          <a:xfrm>
            <a:off x="800080" y="2314873"/>
            <a:ext cx="3117772" cy="269875"/>
          </a:xfrm>
          <a:prstGeom prst="rect">
            <a:avLst/>
          </a:prstGeom>
          <a:noFill/>
          <a:ln/>
        </p:spPr>
        <p:txBody>
          <a:bodyPr wrap="none" lIns="0" tIns="0" rIns="0" bIns="0" rtlCol="0" anchor="t"/>
          <a:lstStyle/>
          <a:p>
            <a:pPr marL="0" indent="0" algn="ctr">
              <a:lnSpc>
                <a:spcPct val="104000"/>
              </a:lnSpc>
              <a:buNone/>
            </a:pPr>
            <a:r>
              <a:rPr lang="en-US" sz="1700" kern="0" spc="-34" dirty="0">
                <a:solidFill>
                  <a:srgbClr val="2E2F0E"/>
                </a:solidFill>
                <a:latin typeface="Krona One" pitchFamily="34" charset="0"/>
                <a:ea typeface="Krona One" pitchFamily="34" charset="-122"/>
                <a:cs typeface="Krona One" pitchFamily="34" charset="-120"/>
              </a:rPr>
              <a:t>Identify</a:t>
            </a:r>
            <a:endParaRPr lang="en-US" sz="1700" dirty="0"/>
          </a:p>
        </p:txBody>
      </p:sp>
      <p:sp>
        <p:nvSpPr>
          <p:cNvPr id="10" name="Text 8"/>
          <p:cNvSpPr/>
          <p:nvPr/>
        </p:nvSpPr>
        <p:spPr>
          <a:xfrm>
            <a:off x="800080" y="2699048"/>
            <a:ext cx="3117772" cy="552450"/>
          </a:xfrm>
          <a:prstGeom prst="rect">
            <a:avLst/>
          </a:prstGeom>
          <a:noFill/>
          <a:ln/>
        </p:spPr>
        <p:txBody>
          <a:bodyPr wrap="square" lIns="0" tIns="0" rIns="0" bIns="0" rtlCol="0" anchor="t">
            <a:normAutofit/>
          </a:bodyPr>
          <a:lstStyle/>
          <a:p>
            <a:pPr marL="0" indent="0" algn="ctr">
              <a:lnSpc>
                <a:spcPct val="121000"/>
              </a:lnSpc>
              <a:buNone/>
            </a:pPr>
            <a:r>
              <a:rPr lang="en-US" sz="1500" dirty="0">
                <a:solidFill>
                  <a:srgbClr val="2E2F0E"/>
                </a:solidFill>
                <a:latin typeface="Space Grotesk" pitchFamily="34" charset="0"/>
                <a:ea typeface="Space Grotesk" pitchFamily="34" charset="-122"/>
                <a:cs typeface="Space Grotesk" pitchFamily="34" charset="-120"/>
              </a:rPr>
              <a:t>Define the cinema booking problem and requirements.</a:t>
            </a:r>
            <a:endParaRPr lang="en-US" sz="1500" dirty="0"/>
          </a:p>
        </p:txBody>
      </p:sp>
      <p:sp>
        <p:nvSpPr>
          <p:cNvPr id="11" name="Shape 9"/>
          <p:cNvSpPr/>
          <p:nvPr/>
        </p:nvSpPr>
        <p:spPr>
          <a:xfrm>
            <a:off x="4213120" y="4013498"/>
            <a:ext cx="28574" cy="571500"/>
          </a:xfrm>
          <a:prstGeom prst="roundRect">
            <a:avLst>
              <a:gd name="adj" fmla="val 50000"/>
            </a:avLst>
          </a:prstGeom>
          <a:solidFill>
            <a:srgbClr val="80802C"/>
          </a:solidFill>
          <a:ln/>
        </p:spPr>
      </p:sp>
      <p:sp>
        <p:nvSpPr>
          <p:cNvPr id="12" name="Shape 10"/>
          <p:cNvSpPr/>
          <p:nvPr/>
        </p:nvSpPr>
        <p:spPr>
          <a:xfrm>
            <a:off x="4013100" y="3799185"/>
            <a:ext cx="428614" cy="428625"/>
          </a:xfrm>
          <a:prstGeom prst="roundRect">
            <a:avLst>
              <a:gd name="adj" fmla="val 6667"/>
            </a:avLst>
          </a:prstGeom>
          <a:solidFill>
            <a:srgbClr val="676713"/>
          </a:solidFill>
          <a:ln/>
        </p:spPr>
      </p:sp>
      <p:sp>
        <p:nvSpPr>
          <p:cNvPr id="13" name="Text 11"/>
          <p:cNvSpPr/>
          <p:nvPr/>
        </p:nvSpPr>
        <p:spPr>
          <a:xfrm>
            <a:off x="4084535" y="3856335"/>
            <a:ext cx="285743" cy="314325"/>
          </a:xfrm>
          <a:prstGeom prst="rect">
            <a:avLst/>
          </a:prstGeom>
          <a:noFill/>
          <a:ln/>
        </p:spPr>
        <p:txBody>
          <a:bodyPr wrap="none" lIns="0" tIns="0" rIns="0" bIns="0" rtlCol="0" anchor="ctr"/>
          <a:lstStyle/>
          <a:p>
            <a:pPr marL="0" indent="0" algn="ctr">
              <a:lnSpc>
                <a:spcPct val="100000"/>
              </a:lnSpc>
              <a:buNone/>
            </a:pPr>
            <a:r>
              <a:rPr lang="en-US" sz="2250" kern="0" spc="-45" dirty="0">
                <a:solidFill>
                  <a:srgbClr val="FFFFFF"/>
                </a:solidFill>
                <a:latin typeface="Krona One" pitchFamily="34" charset="0"/>
                <a:ea typeface="Krona One" pitchFamily="34" charset="-122"/>
                <a:cs typeface="Krona One" pitchFamily="34" charset="-120"/>
              </a:rPr>
              <a:t>2</a:t>
            </a:r>
            <a:endParaRPr lang="en-US" sz="2250" dirty="0"/>
          </a:p>
        </p:txBody>
      </p:sp>
      <p:sp>
        <p:nvSpPr>
          <p:cNvPr id="14" name="Text 12"/>
          <p:cNvSpPr/>
          <p:nvPr/>
        </p:nvSpPr>
        <p:spPr>
          <a:xfrm>
            <a:off x="2668521" y="4775498"/>
            <a:ext cx="3117772" cy="269875"/>
          </a:xfrm>
          <a:prstGeom prst="rect">
            <a:avLst/>
          </a:prstGeom>
          <a:noFill/>
          <a:ln/>
        </p:spPr>
        <p:txBody>
          <a:bodyPr wrap="none" lIns="0" tIns="0" rIns="0" bIns="0" rtlCol="0" anchor="t"/>
          <a:lstStyle/>
          <a:p>
            <a:pPr marL="0" indent="0" algn="ctr">
              <a:lnSpc>
                <a:spcPct val="104000"/>
              </a:lnSpc>
              <a:buNone/>
            </a:pPr>
            <a:r>
              <a:rPr lang="en-US" sz="1700" kern="0" spc="-34" dirty="0">
                <a:solidFill>
                  <a:srgbClr val="2E2F0E"/>
                </a:solidFill>
                <a:latin typeface="Krona One" pitchFamily="34" charset="0"/>
                <a:ea typeface="Krona One" pitchFamily="34" charset="-122"/>
                <a:cs typeface="Krona One" pitchFamily="34" charset="-120"/>
              </a:rPr>
              <a:t>Design logic</a:t>
            </a:r>
            <a:endParaRPr lang="en-US" sz="1700" dirty="0"/>
          </a:p>
        </p:txBody>
      </p:sp>
      <p:sp>
        <p:nvSpPr>
          <p:cNvPr id="15" name="Text 13"/>
          <p:cNvSpPr/>
          <p:nvPr/>
        </p:nvSpPr>
        <p:spPr>
          <a:xfrm>
            <a:off x="2668521" y="5159673"/>
            <a:ext cx="3117772" cy="552450"/>
          </a:xfrm>
          <a:prstGeom prst="rect">
            <a:avLst/>
          </a:prstGeom>
          <a:noFill/>
          <a:ln/>
        </p:spPr>
        <p:txBody>
          <a:bodyPr wrap="square" lIns="0" tIns="0" rIns="0" bIns="0" rtlCol="0" anchor="t">
            <a:normAutofit/>
          </a:bodyPr>
          <a:lstStyle/>
          <a:p>
            <a:pPr marL="0" indent="0" algn="ctr">
              <a:lnSpc>
                <a:spcPct val="121000"/>
              </a:lnSpc>
              <a:buNone/>
            </a:pPr>
            <a:r>
              <a:rPr lang="en-US" sz="1500" dirty="0">
                <a:solidFill>
                  <a:srgbClr val="2E2F0E"/>
                </a:solidFill>
                <a:latin typeface="Space Grotesk" pitchFamily="34" charset="0"/>
                <a:ea typeface="Space Grotesk" pitchFamily="34" charset="-122"/>
                <a:cs typeface="Space Grotesk" pitchFamily="34" charset="-120"/>
              </a:rPr>
              <a:t>Plan seats, operations, booking, and cancellation.</a:t>
            </a:r>
            <a:endParaRPr lang="en-US" sz="1500" dirty="0"/>
          </a:p>
        </p:txBody>
      </p:sp>
      <p:sp>
        <p:nvSpPr>
          <p:cNvPr id="16" name="Shape 14"/>
          <p:cNvSpPr/>
          <p:nvPr/>
        </p:nvSpPr>
        <p:spPr>
          <a:xfrm>
            <a:off x="6081560" y="3441998"/>
            <a:ext cx="28574" cy="571500"/>
          </a:xfrm>
          <a:prstGeom prst="roundRect">
            <a:avLst>
              <a:gd name="adj" fmla="val 50000"/>
            </a:avLst>
          </a:prstGeom>
          <a:solidFill>
            <a:srgbClr val="9D923B"/>
          </a:solidFill>
          <a:ln/>
        </p:spPr>
      </p:sp>
      <p:sp>
        <p:nvSpPr>
          <p:cNvPr id="17" name="Shape 15"/>
          <p:cNvSpPr/>
          <p:nvPr/>
        </p:nvSpPr>
        <p:spPr>
          <a:xfrm>
            <a:off x="5881540" y="3799185"/>
            <a:ext cx="428614" cy="428625"/>
          </a:xfrm>
          <a:prstGeom prst="roundRect">
            <a:avLst>
              <a:gd name="adj" fmla="val 6667"/>
            </a:avLst>
          </a:prstGeom>
          <a:solidFill>
            <a:srgbClr val="B7AC55"/>
          </a:solidFill>
          <a:ln/>
        </p:spPr>
      </p:sp>
      <p:sp>
        <p:nvSpPr>
          <p:cNvPr id="18" name="Text 16"/>
          <p:cNvSpPr/>
          <p:nvPr/>
        </p:nvSpPr>
        <p:spPr>
          <a:xfrm>
            <a:off x="5952976" y="3856335"/>
            <a:ext cx="285743" cy="314325"/>
          </a:xfrm>
          <a:prstGeom prst="rect">
            <a:avLst/>
          </a:prstGeom>
          <a:noFill/>
          <a:ln/>
        </p:spPr>
        <p:txBody>
          <a:bodyPr wrap="none" lIns="0" tIns="0" rIns="0" bIns="0" rtlCol="0" anchor="ctr"/>
          <a:lstStyle/>
          <a:p>
            <a:pPr marL="0" indent="0" algn="ctr">
              <a:lnSpc>
                <a:spcPct val="100000"/>
              </a:lnSpc>
              <a:buNone/>
            </a:pPr>
            <a:r>
              <a:rPr lang="en-US" sz="2250" kern="0" spc="-45" dirty="0">
                <a:solidFill>
                  <a:srgbClr val="000000"/>
                </a:solidFill>
                <a:latin typeface="Krona One" pitchFamily="34" charset="0"/>
                <a:ea typeface="Krona One" pitchFamily="34" charset="-122"/>
                <a:cs typeface="Krona One" pitchFamily="34" charset="-120"/>
              </a:rPr>
              <a:t>3</a:t>
            </a:r>
            <a:endParaRPr lang="en-US" sz="2250" dirty="0"/>
          </a:p>
        </p:txBody>
      </p:sp>
      <p:sp>
        <p:nvSpPr>
          <p:cNvPr id="19" name="Text 17"/>
          <p:cNvSpPr/>
          <p:nvPr/>
        </p:nvSpPr>
        <p:spPr>
          <a:xfrm>
            <a:off x="4536961" y="2314873"/>
            <a:ext cx="3117772" cy="269875"/>
          </a:xfrm>
          <a:prstGeom prst="rect">
            <a:avLst/>
          </a:prstGeom>
          <a:noFill/>
          <a:ln/>
        </p:spPr>
        <p:txBody>
          <a:bodyPr wrap="none" lIns="0" tIns="0" rIns="0" bIns="0" rtlCol="0" anchor="t"/>
          <a:lstStyle/>
          <a:p>
            <a:pPr marL="0" indent="0" algn="ctr">
              <a:lnSpc>
                <a:spcPct val="104000"/>
              </a:lnSpc>
              <a:buNone/>
            </a:pPr>
            <a:r>
              <a:rPr lang="en-US" sz="1700" kern="0" spc="-34" dirty="0">
                <a:solidFill>
                  <a:srgbClr val="2E2F0E"/>
                </a:solidFill>
                <a:latin typeface="Krona One" pitchFamily="34" charset="0"/>
                <a:ea typeface="Krona One" pitchFamily="34" charset="-122"/>
                <a:cs typeface="Krona One" pitchFamily="34" charset="-120"/>
              </a:rPr>
              <a:t>Develop</a:t>
            </a:r>
            <a:endParaRPr lang="en-US" sz="1700" dirty="0"/>
          </a:p>
        </p:txBody>
      </p:sp>
      <p:sp>
        <p:nvSpPr>
          <p:cNvPr id="20" name="Text 18"/>
          <p:cNvSpPr/>
          <p:nvPr/>
        </p:nvSpPr>
        <p:spPr>
          <a:xfrm>
            <a:off x="4536961" y="2699048"/>
            <a:ext cx="3117772" cy="552450"/>
          </a:xfrm>
          <a:prstGeom prst="rect">
            <a:avLst/>
          </a:prstGeom>
          <a:noFill/>
          <a:ln/>
        </p:spPr>
        <p:txBody>
          <a:bodyPr wrap="square" lIns="0" tIns="0" rIns="0" bIns="0" rtlCol="0" anchor="t">
            <a:normAutofit/>
          </a:bodyPr>
          <a:lstStyle/>
          <a:p>
            <a:pPr marL="0" indent="0" algn="ctr">
              <a:lnSpc>
                <a:spcPct val="121000"/>
              </a:lnSpc>
              <a:buNone/>
            </a:pPr>
            <a:r>
              <a:rPr lang="en-US" sz="1500" dirty="0">
                <a:solidFill>
                  <a:srgbClr val="2E2F0E"/>
                </a:solidFill>
                <a:latin typeface="Space Grotesk" pitchFamily="34" charset="0"/>
                <a:ea typeface="Space Grotesk" pitchFamily="34" charset="-122"/>
                <a:cs typeface="Space Grotesk" pitchFamily="34" charset="-120"/>
              </a:rPr>
              <a:t>Build the local console program in Java.</a:t>
            </a:r>
            <a:endParaRPr lang="en-US" sz="1500" dirty="0"/>
          </a:p>
        </p:txBody>
      </p:sp>
      <p:sp>
        <p:nvSpPr>
          <p:cNvPr id="21" name="Shape 19"/>
          <p:cNvSpPr/>
          <p:nvPr/>
        </p:nvSpPr>
        <p:spPr>
          <a:xfrm>
            <a:off x="7950001" y="4013498"/>
            <a:ext cx="28574" cy="571500"/>
          </a:xfrm>
          <a:prstGeom prst="roundRect">
            <a:avLst>
              <a:gd name="adj" fmla="val 50000"/>
            </a:avLst>
          </a:prstGeom>
          <a:solidFill>
            <a:srgbClr val="538ACD"/>
          </a:solidFill>
          <a:ln/>
        </p:spPr>
      </p:sp>
      <p:sp>
        <p:nvSpPr>
          <p:cNvPr id="22" name="Shape 20"/>
          <p:cNvSpPr/>
          <p:nvPr/>
        </p:nvSpPr>
        <p:spPr>
          <a:xfrm>
            <a:off x="7749981" y="3799185"/>
            <a:ext cx="428614" cy="428625"/>
          </a:xfrm>
          <a:prstGeom prst="roundRect">
            <a:avLst>
              <a:gd name="adj" fmla="val 6667"/>
            </a:avLst>
          </a:prstGeom>
          <a:solidFill>
            <a:srgbClr val="6DA4E7"/>
          </a:solidFill>
          <a:ln/>
        </p:spPr>
      </p:sp>
      <p:sp>
        <p:nvSpPr>
          <p:cNvPr id="23" name="Text 21"/>
          <p:cNvSpPr/>
          <p:nvPr/>
        </p:nvSpPr>
        <p:spPr>
          <a:xfrm>
            <a:off x="7821417" y="3856335"/>
            <a:ext cx="285743" cy="314325"/>
          </a:xfrm>
          <a:prstGeom prst="rect">
            <a:avLst/>
          </a:prstGeom>
          <a:noFill/>
          <a:ln/>
        </p:spPr>
        <p:txBody>
          <a:bodyPr wrap="none" lIns="0" tIns="0" rIns="0" bIns="0" rtlCol="0" anchor="ctr"/>
          <a:lstStyle/>
          <a:p>
            <a:pPr marL="0" indent="0" algn="ctr">
              <a:lnSpc>
                <a:spcPct val="100000"/>
              </a:lnSpc>
              <a:buNone/>
            </a:pPr>
            <a:r>
              <a:rPr lang="en-US" sz="2250" kern="0" spc="-45" dirty="0">
                <a:solidFill>
                  <a:srgbClr val="000000"/>
                </a:solidFill>
                <a:latin typeface="Krona One" pitchFamily="34" charset="0"/>
                <a:ea typeface="Krona One" pitchFamily="34" charset="-122"/>
                <a:cs typeface="Krona One" pitchFamily="34" charset="-120"/>
              </a:rPr>
              <a:t>4</a:t>
            </a:r>
            <a:endParaRPr lang="en-US" sz="2250" dirty="0"/>
          </a:p>
        </p:txBody>
      </p:sp>
      <p:sp>
        <p:nvSpPr>
          <p:cNvPr id="24" name="Text 22"/>
          <p:cNvSpPr/>
          <p:nvPr/>
        </p:nvSpPr>
        <p:spPr>
          <a:xfrm>
            <a:off x="6405402" y="4775498"/>
            <a:ext cx="3117772" cy="269875"/>
          </a:xfrm>
          <a:prstGeom prst="rect">
            <a:avLst/>
          </a:prstGeom>
          <a:noFill/>
          <a:ln/>
        </p:spPr>
        <p:txBody>
          <a:bodyPr wrap="none" lIns="0" tIns="0" rIns="0" bIns="0" rtlCol="0" anchor="t"/>
          <a:lstStyle/>
          <a:p>
            <a:pPr marL="0" indent="0" algn="ctr">
              <a:lnSpc>
                <a:spcPct val="104000"/>
              </a:lnSpc>
              <a:buNone/>
            </a:pPr>
            <a:r>
              <a:rPr lang="en-US" sz="1700" kern="0" spc="-34" dirty="0">
                <a:solidFill>
                  <a:srgbClr val="2E2F0E"/>
                </a:solidFill>
                <a:latin typeface="Krona One" pitchFamily="34" charset="0"/>
                <a:ea typeface="Krona One" pitchFamily="34" charset="-122"/>
                <a:cs typeface="Krona One" pitchFamily="34" charset="-120"/>
              </a:rPr>
              <a:t>Test</a:t>
            </a:r>
            <a:endParaRPr lang="en-US" sz="1700" dirty="0"/>
          </a:p>
        </p:txBody>
      </p:sp>
      <p:sp>
        <p:nvSpPr>
          <p:cNvPr id="25" name="Text 23"/>
          <p:cNvSpPr/>
          <p:nvPr/>
        </p:nvSpPr>
        <p:spPr>
          <a:xfrm>
            <a:off x="6405402" y="5159673"/>
            <a:ext cx="3117772" cy="552450"/>
          </a:xfrm>
          <a:prstGeom prst="rect">
            <a:avLst/>
          </a:prstGeom>
          <a:noFill/>
          <a:ln/>
        </p:spPr>
        <p:txBody>
          <a:bodyPr wrap="square" lIns="0" tIns="0" rIns="0" bIns="0" rtlCol="0" anchor="t">
            <a:normAutofit/>
          </a:bodyPr>
          <a:lstStyle/>
          <a:p>
            <a:pPr marL="0" indent="0" algn="ctr">
              <a:lnSpc>
                <a:spcPct val="121000"/>
              </a:lnSpc>
              <a:buNone/>
            </a:pPr>
            <a:r>
              <a:rPr lang="en-US" sz="1500" dirty="0">
                <a:solidFill>
                  <a:srgbClr val="2E2F0E"/>
                </a:solidFill>
                <a:latin typeface="Space Grotesk" pitchFamily="34" charset="0"/>
                <a:ea typeface="Space Grotesk" pitchFamily="34" charset="-122"/>
                <a:cs typeface="Space Grotesk" pitchFamily="34" charset="-120"/>
              </a:rPr>
              <a:t>Check inputs, double bookings, cancellation, and results.</a:t>
            </a:r>
            <a:endParaRPr lang="en-US" sz="1500" dirty="0"/>
          </a:p>
        </p:txBody>
      </p:sp>
      <p:sp>
        <p:nvSpPr>
          <p:cNvPr id="26" name="Shape 24"/>
          <p:cNvSpPr/>
          <p:nvPr/>
        </p:nvSpPr>
        <p:spPr>
          <a:xfrm>
            <a:off x="9818442" y="3441998"/>
            <a:ext cx="28574" cy="571500"/>
          </a:xfrm>
          <a:prstGeom prst="roundRect">
            <a:avLst>
              <a:gd name="adj" fmla="val 50000"/>
            </a:avLst>
          </a:prstGeom>
          <a:solidFill>
            <a:srgbClr val="80802C"/>
          </a:solidFill>
          <a:ln/>
        </p:spPr>
      </p:sp>
      <p:sp>
        <p:nvSpPr>
          <p:cNvPr id="27" name="Shape 25"/>
          <p:cNvSpPr/>
          <p:nvPr/>
        </p:nvSpPr>
        <p:spPr>
          <a:xfrm>
            <a:off x="9618422" y="3799185"/>
            <a:ext cx="428614" cy="428625"/>
          </a:xfrm>
          <a:prstGeom prst="roundRect">
            <a:avLst>
              <a:gd name="adj" fmla="val 6667"/>
            </a:avLst>
          </a:prstGeom>
          <a:solidFill>
            <a:srgbClr val="676713"/>
          </a:solidFill>
          <a:ln/>
        </p:spPr>
      </p:sp>
      <p:sp>
        <p:nvSpPr>
          <p:cNvPr id="28" name="Text 26"/>
          <p:cNvSpPr/>
          <p:nvPr/>
        </p:nvSpPr>
        <p:spPr>
          <a:xfrm>
            <a:off x="9689858" y="3856335"/>
            <a:ext cx="285743" cy="314325"/>
          </a:xfrm>
          <a:prstGeom prst="rect">
            <a:avLst/>
          </a:prstGeom>
          <a:noFill/>
          <a:ln/>
        </p:spPr>
        <p:txBody>
          <a:bodyPr wrap="none" lIns="0" tIns="0" rIns="0" bIns="0" rtlCol="0" anchor="ctr"/>
          <a:lstStyle/>
          <a:p>
            <a:pPr marL="0" indent="0" algn="ctr">
              <a:lnSpc>
                <a:spcPct val="100000"/>
              </a:lnSpc>
              <a:buNone/>
            </a:pPr>
            <a:r>
              <a:rPr lang="en-US" sz="2250" kern="0" spc="-45" dirty="0">
                <a:solidFill>
                  <a:srgbClr val="FFFFFF"/>
                </a:solidFill>
                <a:latin typeface="Krona One" pitchFamily="34" charset="0"/>
                <a:ea typeface="Krona One" pitchFamily="34" charset="-122"/>
                <a:cs typeface="Krona One" pitchFamily="34" charset="-120"/>
              </a:rPr>
              <a:t>5</a:t>
            </a:r>
            <a:endParaRPr lang="en-US" sz="2250" dirty="0"/>
          </a:p>
        </p:txBody>
      </p:sp>
      <p:sp>
        <p:nvSpPr>
          <p:cNvPr id="29" name="Text 27"/>
          <p:cNvSpPr/>
          <p:nvPr/>
        </p:nvSpPr>
        <p:spPr>
          <a:xfrm>
            <a:off x="8273843" y="2314873"/>
            <a:ext cx="3117772" cy="269875"/>
          </a:xfrm>
          <a:prstGeom prst="rect">
            <a:avLst/>
          </a:prstGeom>
          <a:noFill/>
          <a:ln/>
        </p:spPr>
        <p:txBody>
          <a:bodyPr wrap="none" lIns="0" tIns="0" rIns="0" bIns="0" rtlCol="0" anchor="t"/>
          <a:lstStyle/>
          <a:p>
            <a:pPr marL="0" indent="0" algn="ctr">
              <a:lnSpc>
                <a:spcPct val="104000"/>
              </a:lnSpc>
              <a:buNone/>
            </a:pPr>
            <a:r>
              <a:rPr lang="en-US" sz="1700" kern="0" spc="-34" dirty="0">
                <a:solidFill>
                  <a:srgbClr val="2E2F0E"/>
                </a:solidFill>
                <a:latin typeface="Krona One" pitchFamily="34" charset="0"/>
                <a:ea typeface="Krona One" pitchFamily="34" charset="-122"/>
                <a:cs typeface="Krona One" pitchFamily="34" charset="-120"/>
              </a:rPr>
              <a:t>Improve</a:t>
            </a:r>
            <a:endParaRPr lang="en-US" sz="1700" dirty="0"/>
          </a:p>
        </p:txBody>
      </p:sp>
      <p:sp>
        <p:nvSpPr>
          <p:cNvPr id="30" name="Text 28"/>
          <p:cNvSpPr/>
          <p:nvPr/>
        </p:nvSpPr>
        <p:spPr>
          <a:xfrm>
            <a:off x="8273843" y="2699048"/>
            <a:ext cx="3117772" cy="552450"/>
          </a:xfrm>
          <a:prstGeom prst="rect">
            <a:avLst/>
          </a:prstGeom>
          <a:noFill/>
          <a:ln/>
        </p:spPr>
        <p:txBody>
          <a:bodyPr wrap="square" lIns="0" tIns="0" rIns="0" bIns="0" rtlCol="0" anchor="t">
            <a:normAutofit/>
          </a:bodyPr>
          <a:lstStyle/>
          <a:p>
            <a:pPr marL="0" indent="0" algn="ctr">
              <a:lnSpc>
                <a:spcPct val="121000"/>
              </a:lnSpc>
              <a:buNone/>
            </a:pPr>
            <a:r>
              <a:rPr lang="en-US" sz="1500" dirty="0">
                <a:solidFill>
                  <a:srgbClr val="2E2F0E"/>
                </a:solidFill>
                <a:latin typeface="Space Grotesk" pitchFamily="34" charset="0"/>
                <a:ea typeface="Space Grotesk" pitchFamily="34" charset="-122"/>
                <a:cs typeface="Space Grotesk" pitchFamily="34" charset="-120"/>
              </a:rPr>
              <a:t>Debug issues and refine the user flow.</a:t>
            </a:r>
            <a:endParaRPr lang="en-US" sz="1500" dirty="0"/>
          </a:p>
        </p:txBody>
      </p:sp>
      <p:sp>
        <p:nvSpPr>
          <p:cNvPr id="31" name="Text 29"/>
          <p:cNvSpPr/>
          <p:nvPr/>
        </p:nvSpPr>
        <p:spPr>
          <a:xfrm>
            <a:off x="11431302" y="6461125"/>
            <a:ext cx="760393" cy="184150"/>
          </a:xfrm>
          <a:prstGeom prst="rect">
            <a:avLst/>
          </a:prstGeom>
          <a:noFill/>
          <a:ln/>
        </p:spPr>
        <p:txBody>
          <a:bodyPr wrap="none" lIns="0" tIns="0" rIns="0" bIns="0" rtlCol="0" anchor="ctr"/>
          <a:lstStyle/>
          <a:p>
            <a:pPr marL="0" indent="0" algn="l">
              <a:lnSpc>
                <a:spcPct val="121000"/>
              </a:lnSpc>
              <a:buNone/>
            </a:pPr>
            <a:r>
              <a:rPr lang="en-US" sz="1000" dirty="0">
                <a:solidFill>
                  <a:srgbClr val="2E2F0E"/>
                </a:solidFill>
                <a:latin typeface="Space Grotesk" pitchFamily="34" charset="0"/>
                <a:ea typeface="Space Grotesk" pitchFamily="34" charset="-122"/>
                <a:cs typeface="Space Grotesk" pitchFamily="34" charset="-120"/>
              </a:rPr>
              <a:t>07</a:t>
            </a:r>
            <a:endParaRPr lang="en-US" sz="1000" dirty="0"/>
          </a:p>
        </p:txBody>
      </p:sp>
      <p:pic>
        <p:nvPicPr>
          <p:cNvPr id="33" name="Picture 32">
            <a:extLst>
              <a:ext uri="{FF2B5EF4-FFF2-40B4-BE49-F238E27FC236}">
                <a16:creationId xmlns:a16="http://schemas.microsoft.com/office/drawing/2014/main" id="{1020E556-5167-FF1B-52EE-8DABD0C89721}"/>
              </a:ext>
            </a:extLst>
          </p:cNvPr>
          <p:cNvPicPr>
            <a:picLocks noChangeAspect="1"/>
          </p:cNvPicPr>
          <p:nvPr/>
        </p:nvPicPr>
        <p:blipFill>
          <a:blip r:embed="rId3"/>
          <a:stretch>
            <a:fillRect/>
          </a:stretch>
        </p:blipFill>
        <p:spPr>
          <a:xfrm>
            <a:off x="10461805" y="6269030"/>
            <a:ext cx="1729890" cy="548688"/>
          </a:xfrm>
          <a:prstGeom prst="rect">
            <a:avLst/>
          </a:prstGeom>
        </p:spPr>
      </p:pic>
      <p:pic>
        <p:nvPicPr>
          <p:cNvPr id="34" name="Picture 33">
            <a:extLst>
              <a:ext uri="{FF2B5EF4-FFF2-40B4-BE49-F238E27FC236}">
                <a16:creationId xmlns:a16="http://schemas.microsoft.com/office/drawing/2014/main" id="{B4B98E3C-C5B5-CE4F-498C-76F6311820BC}"/>
              </a:ext>
            </a:extLst>
          </p:cNvPr>
          <p:cNvPicPr>
            <a:picLocks noChangeAspect="1"/>
          </p:cNvPicPr>
          <p:nvPr/>
        </p:nvPicPr>
        <p:blipFill>
          <a:blip r:embed="rId4"/>
          <a:stretch>
            <a:fillRect/>
          </a:stretch>
        </p:blipFill>
        <p:spPr>
          <a:xfrm>
            <a:off x="10536414" y="0"/>
            <a:ext cx="1655281" cy="97473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09585" y="609600"/>
            <a:ext cx="3598276" cy="152400"/>
          </a:xfrm>
          <a:prstGeom prst="rect">
            <a:avLst/>
          </a:prstGeom>
          <a:noFill/>
          <a:ln/>
        </p:spPr>
        <p:txBody>
          <a:bodyPr wrap="none" lIns="0" tIns="0" rIns="0" bIns="0" rtlCol="0" anchor="t"/>
          <a:lstStyle/>
          <a:p>
            <a:pPr marL="0" indent="0" algn="l">
              <a:lnSpc>
                <a:spcPct val="100000"/>
              </a:lnSpc>
              <a:buNone/>
            </a:pPr>
            <a:r>
              <a:rPr lang="en-US" sz="1000" kern="0" spc="50" dirty="0">
                <a:solidFill>
                  <a:srgbClr val="676713"/>
                </a:solidFill>
                <a:latin typeface="Krona One" pitchFamily="34" charset="0"/>
                <a:ea typeface="Krona One" pitchFamily="34" charset="-122"/>
                <a:cs typeface="Krona One" pitchFamily="34" charset="-120"/>
              </a:rPr>
              <a:t>06· TECHNOLOGIES AND TOOLS</a:t>
            </a:r>
            <a:endParaRPr lang="en-US" sz="1000" dirty="0"/>
          </a:p>
        </p:txBody>
      </p:sp>
      <p:sp>
        <p:nvSpPr>
          <p:cNvPr id="3" name="Shape 1"/>
          <p:cNvSpPr/>
          <p:nvPr/>
        </p:nvSpPr>
        <p:spPr>
          <a:xfrm>
            <a:off x="3928188" y="656551"/>
            <a:ext cx="6136950" cy="45719"/>
          </a:xfrm>
          <a:prstGeom prst="roundRect">
            <a:avLst>
              <a:gd name="adj" fmla="val 49998"/>
            </a:avLst>
          </a:prstGeom>
          <a:solidFill>
            <a:srgbClr val="B7AC55"/>
          </a:solidFill>
          <a:ln/>
        </p:spPr>
      </p:sp>
      <p:sp>
        <p:nvSpPr>
          <p:cNvPr id="4" name="Text 2"/>
          <p:cNvSpPr/>
          <p:nvPr/>
        </p:nvSpPr>
        <p:spPr>
          <a:xfrm>
            <a:off x="609585" y="1171575"/>
            <a:ext cx="8889778" cy="391120"/>
          </a:xfrm>
          <a:prstGeom prst="rect">
            <a:avLst/>
          </a:prstGeom>
          <a:noFill/>
          <a:ln/>
        </p:spPr>
        <p:txBody>
          <a:bodyPr wrap="none" lIns="0" tIns="0" rIns="0" bIns="0" rtlCol="0" anchor="t"/>
          <a:lstStyle/>
          <a:p>
            <a:pPr marL="0" indent="0" algn="l">
              <a:lnSpc>
                <a:spcPct val="92000"/>
              </a:lnSpc>
              <a:buNone/>
            </a:pPr>
            <a:r>
              <a:rPr lang="en-US" sz="2800" kern="0" spc="-56" dirty="0">
                <a:solidFill>
                  <a:srgbClr val="2E2F0E"/>
                </a:solidFill>
                <a:latin typeface="Krona One" pitchFamily="34" charset="0"/>
                <a:ea typeface="Krona One" pitchFamily="34" charset="-122"/>
                <a:cs typeface="Krona One" pitchFamily="34" charset="-120"/>
              </a:rPr>
              <a:t>A focused technical foundation</a:t>
            </a:r>
            <a:endParaRPr lang="en-US" sz="2800" dirty="0"/>
          </a:p>
        </p:txBody>
      </p:sp>
      <p:pic>
        <p:nvPicPr>
          <p:cNvPr id="5" name="Image 0" descr="preencoded.png"/>
          <p:cNvPicPr>
            <a:picLocks noChangeAspect="1"/>
          </p:cNvPicPr>
          <p:nvPr/>
        </p:nvPicPr>
        <p:blipFill>
          <a:blip r:embed="rId3"/>
          <a:stretch>
            <a:fillRect/>
          </a:stretch>
        </p:blipFill>
        <p:spPr>
          <a:xfrm>
            <a:off x="914377" y="1927820"/>
            <a:ext cx="476238" cy="476250"/>
          </a:xfrm>
          <a:prstGeom prst="rect">
            <a:avLst/>
          </a:prstGeom>
        </p:spPr>
      </p:pic>
      <p:sp>
        <p:nvSpPr>
          <p:cNvPr id="6" name="Text 3"/>
          <p:cNvSpPr/>
          <p:nvPr/>
        </p:nvSpPr>
        <p:spPr>
          <a:xfrm>
            <a:off x="914377" y="2543770"/>
            <a:ext cx="4876678" cy="317500"/>
          </a:xfrm>
          <a:prstGeom prst="rect">
            <a:avLst/>
          </a:prstGeom>
          <a:noFill/>
          <a:ln/>
        </p:spPr>
        <p:txBody>
          <a:bodyPr wrap="none" lIns="0" tIns="0" rIns="0" bIns="0" rtlCol="0" anchor="t"/>
          <a:lstStyle/>
          <a:p>
            <a:pPr marL="0" indent="0" algn="l">
              <a:lnSpc>
                <a:spcPct val="104000"/>
              </a:lnSpc>
              <a:buNone/>
            </a:pPr>
            <a:r>
              <a:rPr lang="en-US" sz="2000" dirty="0">
                <a:solidFill>
                  <a:srgbClr val="2E2F0E"/>
                </a:solidFill>
                <a:latin typeface="Space Grotesk SemiBold" pitchFamily="34" charset="0"/>
                <a:ea typeface="Space Grotesk SemiBold" pitchFamily="34" charset="-122"/>
                <a:cs typeface="Space Grotesk SemiBold" pitchFamily="34" charset="-120"/>
              </a:rPr>
              <a:t>Java</a:t>
            </a:r>
            <a:endParaRPr lang="en-US" sz="2000" dirty="0"/>
          </a:p>
        </p:txBody>
      </p:sp>
      <p:sp>
        <p:nvSpPr>
          <p:cNvPr id="7" name="Text 4"/>
          <p:cNvSpPr/>
          <p:nvPr/>
        </p:nvSpPr>
        <p:spPr>
          <a:xfrm>
            <a:off x="914377" y="3032720"/>
            <a:ext cx="4876678" cy="552450"/>
          </a:xfrm>
          <a:prstGeom prst="rect">
            <a:avLst/>
          </a:prstGeom>
          <a:noFill/>
          <a:ln/>
        </p:spPr>
        <p:txBody>
          <a:bodyPr wrap="square" lIns="0" tIns="0" rIns="0" bIns="0" rtlCol="0" anchor="t">
            <a:normAutofit/>
          </a:bodyPr>
          <a:lstStyle/>
          <a:p>
            <a:pPr marL="0" indent="0" algn="l">
              <a:lnSpc>
                <a:spcPct val="121000"/>
              </a:lnSpc>
              <a:buNone/>
            </a:pPr>
            <a:r>
              <a:rPr lang="en-US" sz="1500" dirty="0">
                <a:solidFill>
                  <a:srgbClr val="2E2F0E"/>
                </a:solidFill>
                <a:latin typeface="Space Grotesk" pitchFamily="34" charset="0"/>
                <a:ea typeface="Space Grotesk" pitchFamily="34" charset="-122"/>
                <a:cs typeface="Space Grotesk" pitchFamily="34" charset="-120"/>
              </a:rPr>
              <a:t>The programming language used to build the Cinema Seat Booking System and its booking logic.</a:t>
            </a:r>
            <a:endParaRPr lang="en-US" sz="1500" dirty="0"/>
          </a:p>
        </p:txBody>
      </p:sp>
      <p:pic>
        <p:nvPicPr>
          <p:cNvPr id="8" name="Image 1" descr="preencoded.png"/>
          <p:cNvPicPr>
            <a:picLocks noChangeAspect="1"/>
          </p:cNvPicPr>
          <p:nvPr/>
        </p:nvPicPr>
        <p:blipFill>
          <a:blip r:embed="rId4"/>
          <a:stretch>
            <a:fillRect/>
          </a:stretch>
        </p:blipFill>
        <p:spPr>
          <a:xfrm>
            <a:off x="6400640" y="1927820"/>
            <a:ext cx="476238" cy="476250"/>
          </a:xfrm>
          <a:prstGeom prst="rect">
            <a:avLst/>
          </a:prstGeom>
        </p:spPr>
      </p:pic>
      <p:sp>
        <p:nvSpPr>
          <p:cNvPr id="9" name="Text 5"/>
          <p:cNvSpPr/>
          <p:nvPr/>
        </p:nvSpPr>
        <p:spPr>
          <a:xfrm>
            <a:off x="6400640" y="2543770"/>
            <a:ext cx="4876678" cy="317500"/>
          </a:xfrm>
          <a:prstGeom prst="rect">
            <a:avLst/>
          </a:prstGeom>
          <a:noFill/>
          <a:ln/>
        </p:spPr>
        <p:txBody>
          <a:bodyPr wrap="none" lIns="0" tIns="0" rIns="0" bIns="0" rtlCol="0" anchor="t"/>
          <a:lstStyle/>
          <a:p>
            <a:pPr marL="0" indent="0" algn="l">
              <a:lnSpc>
                <a:spcPct val="104000"/>
              </a:lnSpc>
              <a:buNone/>
            </a:pPr>
            <a:r>
              <a:rPr lang="en-US" sz="2000" dirty="0">
                <a:solidFill>
                  <a:srgbClr val="2E2F0E"/>
                </a:solidFill>
                <a:latin typeface="Space Grotesk SemiBold" pitchFamily="34" charset="0"/>
                <a:ea typeface="Space Grotesk SemiBold" pitchFamily="34" charset="-122"/>
                <a:cs typeface="Space Grotesk SemiBold" pitchFamily="34" charset="-120"/>
              </a:rPr>
              <a:t>Console execution</a:t>
            </a:r>
            <a:endParaRPr lang="en-US" sz="2000" dirty="0"/>
          </a:p>
        </p:txBody>
      </p:sp>
      <p:sp>
        <p:nvSpPr>
          <p:cNvPr id="10" name="Text 6"/>
          <p:cNvSpPr/>
          <p:nvPr/>
        </p:nvSpPr>
        <p:spPr>
          <a:xfrm>
            <a:off x="6400640" y="3032720"/>
            <a:ext cx="4876678" cy="552450"/>
          </a:xfrm>
          <a:prstGeom prst="rect">
            <a:avLst/>
          </a:prstGeom>
          <a:noFill/>
          <a:ln/>
        </p:spPr>
        <p:txBody>
          <a:bodyPr wrap="square" lIns="0" tIns="0" rIns="0" bIns="0" rtlCol="0" anchor="t">
            <a:normAutofit/>
          </a:bodyPr>
          <a:lstStyle/>
          <a:p>
            <a:pPr marL="0" indent="0" algn="l">
              <a:lnSpc>
                <a:spcPct val="121000"/>
              </a:lnSpc>
              <a:buNone/>
            </a:pPr>
            <a:r>
              <a:rPr lang="en-US" sz="1500" dirty="0">
                <a:solidFill>
                  <a:srgbClr val="2E2F0E"/>
                </a:solidFill>
                <a:latin typeface="Space Grotesk" pitchFamily="34" charset="0"/>
                <a:ea typeface="Space Grotesk" pitchFamily="34" charset="-122"/>
                <a:cs typeface="Space Grotesk" pitchFamily="34" charset="-120"/>
              </a:rPr>
              <a:t>The program runs locally through a text-based console interface.</a:t>
            </a:r>
            <a:endParaRPr lang="en-US" sz="1500" dirty="0"/>
          </a:p>
        </p:txBody>
      </p:sp>
      <p:pic>
        <p:nvPicPr>
          <p:cNvPr id="11" name="Image 2" descr="preencoded.png"/>
          <p:cNvPicPr>
            <a:picLocks noChangeAspect="1"/>
          </p:cNvPicPr>
          <p:nvPr/>
        </p:nvPicPr>
        <p:blipFill>
          <a:blip r:embed="rId4"/>
          <a:stretch>
            <a:fillRect/>
          </a:stretch>
        </p:blipFill>
        <p:spPr>
          <a:xfrm>
            <a:off x="914377" y="4319786"/>
            <a:ext cx="476238" cy="476250"/>
          </a:xfrm>
          <a:prstGeom prst="rect">
            <a:avLst/>
          </a:prstGeom>
        </p:spPr>
      </p:pic>
      <p:sp>
        <p:nvSpPr>
          <p:cNvPr id="12" name="Text 7"/>
          <p:cNvSpPr/>
          <p:nvPr/>
        </p:nvSpPr>
        <p:spPr>
          <a:xfrm>
            <a:off x="914377" y="4935736"/>
            <a:ext cx="10362941" cy="317500"/>
          </a:xfrm>
          <a:prstGeom prst="rect">
            <a:avLst/>
          </a:prstGeom>
          <a:noFill/>
          <a:ln/>
        </p:spPr>
        <p:txBody>
          <a:bodyPr wrap="none" lIns="0" tIns="0" rIns="0" bIns="0" rtlCol="0" anchor="t"/>
          <a:lstStyle/>
          <a:p>
            <a:pPr marL="0" indent="0" algn="l">
              <a:lnSpc>
                <a:spcPct val="104000"/>
              </a:lnSpc>
              <a:buNone/>
            </a:pPr>
            <a:r>
              <a:rPr lang="en-US" sz="2000" dirty="0">
                <a:solidFill>
                  <a:srgbClr val="2E2F0E"/>
                </a:solidFill>
                <a:latin typeface="Space Grotesk SemiBold" pitchFamily="34" charset="0"/>
                <a:ea typeface="Space Grotesk SemiBold" pitchFamily="34" charset="-122"/>
                <a:cs typeface="Space Grotesk SemiBold" pitchFamily="34" charset="-120"/>
              </a:rPr>
              <a:t>Project output</a:t>
            </a:r>
            <a:endParaRPr lang="en-US" sz="2000" dirty="0"/>
          </a:p>
        </p:txBody>
      </p:sp>
      <p:sp>
        <p:nvSpPr>
          <p:cNvPr id="13" name="Text 8"/>
          <p:cNvSpPr/>
          <p:nvPr/>
        </p:nvSpPr>
        <p:spPr>
          <a:xfrm>
            <a:off x="914377" y="5424686"/>
            <a:ext cx="10362941" cy="552450"/>
          </a:xfrm>
          <a:prstGeom prst="rect">
            <a:avLst/>
          </a:prstGeom>
          <a:noFill/>
          <a:ln/>
        </p:spPr>
        <p:txBody>
          <a:bodyPr wrap="square" lIns="0" tIns="0" rIns="0" bIns="0" rtlCol="0" anchor="t">
            <a:normAutofit/>
          </a:bodyPr>
          <a:lstStyle/>
          <a:p>
            <a:pPr marL="0" indent="0" algn="l">
              <a:lnSpc>
                <a:spcPct val="121000"/>
              </a:lnSpc>
              <a:buNone/>
            </a:pPr>
            <a:r>
              <a:rPr lang="en-US" sz="1500" dirty="0">
                <a:solidFill>
                  <a:srgbClr val="2E2F0E"/>
                </a:solidFill>
                <a:latin typeface="Space Grotesk" pitchFamily="34" charset="0"/>
                <a:ea typeface="Space Grotesk" pitchFamily="34" charset="-122"/>
                <a:cs typeface="Space Grotesk" pitchFamily="34" charset="-120"/>
              </a:rPr>
              <a:t>The output of our Java program is a live console user interface that shows the theater's seat map, handles user choices safely, updates seat availability in real time, and prints a final ticket receipt</a:t>
            </a:r>
            <a:endParaRPr lang="en-US" sz="1500" dirty="0"/>
          </a:p>
        </p:txBody>
      </p:sp>
      <p:sp>
        <p:nvSpPr>
          <p:cNvPr id="14" name="Shape 9"/>
          <p:cNvSpPr/>
          <p:nvPr/>
        </p:nvSpPr>
        <p:spPr>
          <a:xfrm>
            <a:off x="914377" y="6116836"/>
            <a:ext cx="5105272" cy="340916"/>
          </a:xfrm>
          <a:prstGeom prst="rect">
            <a:avLst/>
          </a:prstGeom>
          <a:solidFill>
            <a:srgbClr val="E2D7C2"/>
          </a:solidFill>
          <a:ln/>
        </p:spPr>
      </p:sp>
      <p:sp>
        <p:nvSpPr>
          <p:cNvPr id="15" name="Shape 10"/>
          <p:cNvSpPr/>
          <p:nvPr/>
        </p:nvSpPr>
        <p:spPr>
          <a:xfrm>
            <a:off x="6172046" y="6116836"/>
            <a:ext cx="5105272" cy="340916"/>
          </a:xfrm>
          <a:prstGeom prst="rect">
            <a:avLst/>
          </a:prstGeom>
          <a:solidFill>
            <a:srgbClr val="E2D7C2"/>
          </a:solidFill>
          <a:ln/>
        </p:spPr>
      </p:sp>
      <p:sp>
        <p:nvSpPr>
          <p:cNvPr id="16" name="Shape 11"/>
          <p:cNvSpPr/>
          <p:nvPr/>
        </p:nvSpPr>
        <p:spPr>
          <a:xfrm>
            <a:off x="6089498" y="1800820"/>
            <a:ext cx="12700" cy="2391966"/>
          </a:xfrm>
          <a:prstGeom prst="rect">
            <a:avLst/>
          </a:prstGeom>
          <a:solidFill>
            <a:srgbClr val="676713"/>
          </a:solidFill>
          <a:ln/>
        </p:spPr>
      </p:sp>
      <p:sp>
        <p:nvSpPr>
          <p:cNvPr id="17" name="Shape 12"/>
          <p:cNvSpPr/>
          <p:nvPr/>
        </p:nvSpPr>
        <p:spPr>
          <a:xfrm>
            <a:off x="609585" y="4186436"/>
            <a:ext cx="10972526" cy="12700"/>
          </a:xfrm>
          <a:prstGeom prst="rect">
            <a:avLst/>
          </a:prstGeom>
          <a:solidFill>
            <a:srgbClr val="676713"/>
          </a:solidFill>
          <a:ln/>
        </p:spPr>
      </p:sp>
      <p:sp>
        <p:nvSpPr>
          <p:cNvPr id="18" name="Text 13"/>
          <p:cNvSpPr/>
          <p:nvPr/>
        </p:nvSpPr>
        <p:spPr>
          <a:xfrm>
            <a:off x="11421578" y="6461125"/>
            <a:ext cx="770117" cy="184150"/>
          </a:xfrm>
          <a:prstGeom prst="rect">
            <a:avLst/>
          </a:prstGeom>
          <a:noFill/>
          <a:ln/>
        </p:spPr>
        <p:txBody>
          <a:bodyPr wrap="none" lIns="0" tIns="0" rIns="0" bIns="0" rtlCol="0" anchor="ctr"/>
          <a:lstStyle/>
          <a:p>
            <a:pPr marL="0" indent="0" algn="l">
              <a:lnSpc>
                <a:spcPct val="121000"/>
              </a:lnSpc>
              <a:buNone/>
            </a:pPr>
            <a:r>
              <a:rPr lang="en-US" sz="1000" dirty="0">
                <a:solidFill>
                  <a:srgbClr val="2E2F0E"/>
                </a:solidFill>
                <a:latin typeface="Space Grotesk" pitchFamily="34" charset="0"/>
                <a:ea typeface="Space Grotesk" pitchFamily="34" charset="-122"/>
                <a:cs typeface="Space Grotesk" pitchFamily="34" charset="-120"/>
              </a:rPr>
              <a:t>08</a:t>
            </a:r>
            <a:endParaRPr lang="en-US" sz="1000" dirty="0"/>
          </a:p>
        </p:txBody>
      </p:sp>
      <p:pic>
        <p:nvPicPr>
          <p:cNvPr id="20" name="Picture 19">
            <a:extLst>
              <a:ext uri="{FF2B5EF4-FFF2-40B4-BE49-F238E27FC236}">
                <a16:creationId xmlns:a16="http://schemas.microsoft.com/office/drawing/2014/main" id="{B90F0743-DBE5-4E6A-FCE4-74EFB7F414D6}"/>
              </a:ext>
            </a:extLst>
          </p:cNvPr>
          <p:cNvPicPr>
            <a:picLocks noChangeAspect="1"/>
          </p:cNvPicPr>
          <p:nvPr/>
        </p:nvPicPr>
        <p:blipFill>
          <a:blip r:embed="rId5"/>
          <a:stretch>
            <a:fillRect/>
          </a:stretch>
        </p:blipFill>
        <p:spPr>
          <a:xfrm>
            <a:off x="10906632" y="6461125"/>
            <a:ext cx="1285368" cy="407694"/>
          </a:xfrm>
          <a:prstGeom prst="rect">
            <a:avLst/>
          </a:prstGeom>
        </p:spPr>
      </p:pic>
      <p:pic>
        <p:nvPicPr>
          <p:cNvPr id="21" name="Picture 20">
            <a:extLst>
              <a:ext uri="{FF2B5EF4-FFF2-40B4-BE49-F238E27FC236}">
                <a16:creationId xmlns:a16="http://schemas.microsoft.com/office/drawing/2014/main" id="{59B0398D-1CCB-AC66-CDA2-3CF64B156A2D}"/>
              </a:ext>
            </a:extLst>
          </p:cNvPr>
          <p:cNvPicPr>
            <a:picLocks noChangeAspect="1"/>
          </p:cNvPicPr>
          <p:nvPr/>
        </p:nvPicPr>
        <p:blipFill>
          <a:blip r:embed="rId6"/>
          <a:stretch>
            <a:fillRect/>
          </a:stretch>
        </p:blipFill>
        <p:spPr>
          <a:xfrm>
            <a:off x="10536414" y="9772"/>
            <a:ext cx="1655281" cy="97473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09585" y="609600"/>
            <a:ext cx="3598276" cy="152400"/>
          </a:xfrm>
          <a:prstGeom prst="rect">
            <a:avLst/>
          </a:prstGeom>
          <a:noFill/>
          <a:ln/>
        </p:spPr>
        <p:txBody>
          <a:bodyPr wrap="none" lIns="0" tIns="0" rIns="0" bIns="0" rtlCol="0" anchor="t"/>
          <a:lstStyle/>
          <a:p>
            <a:pPr marL="0" indent="0" algn="l">
              <a:lnSpc>
                <a:spcPct val="100000"/>
              </a:lnSpc>
              <a:buNone/>
            </a:pPr>
            <a:r>
              <a:rPr lang="en-US" sz="1000" kern="0" spc="50" dirty="0">
                <a:solidFill>
                  <a:srgbClr val="676713"/>
                </a:solidFill>
                <a:latin typeface="Krona One" pitchFamily="34" charset="0"/>
                <a:ea typeface="Krona One" pitchFamily="34" charset="-122"/>
                <a:cs typeface="Krona One" pitchFamily="34" charset="-120"/>
              </a:rPr>
              <a:t>07 · JAVA CONCEPTS</a:t>
            </a:r>
            <a:endParaRPr lang="en-US" sz="1000" dirty="0"/>
          </a:p>
        </p:txBody>
      </p:sp>
      <p:sp>
        <p:nvSpPr>
          <p:cNvPr id="3" name="Shape 1"/>
          <p:cNvSpPr/>
          <p:nvPr/>
        </p:nvSpPr>
        <p:spPr>
          <a:xfrm>
            <a:off x="3174722" y="638675"/>
            <a:ext cx="7196454" cy="31651"/>
          </a:xfrm>
          <a:prstGeom prst="roundRect">
            <a:avLst>
              <a:gd name="adj" fmla="val 49998"/>
            </a:avLst>
          </a:prstGeom>
          <a:solidFill>
            <a:srgbClr val="B7AC55"/>
          </a:solidFill>
          <a:ln/>
        </p:spPr>
      </p:sp>
      <p:sp>
        <p:nvSpPr>
          <p:cNvPr id="4" name="Text 2"/>
          <p:cNvSpPr/>
          <p:nvPr/>
        </p:nvSpPr>
        <p:spPr>
          <a:xfrm>
            <a:off x="609585" y="1171575"/>
            <a:ext cx="8889778" cy="391120"/>
          </a:xfrm>
          <a:prstGeom prst="rect">
            <a:avLst/>
          </a:prstGeom>
          <a:noFill/>
          <a:ln/>
        </p:spPr>
        <p:txBody>
          <a:bodyPr wrap="none" lIns="0" tIns="0" rIns="0" bIns="0" rtlCol="0" anchor="t"/>
          <a:lstStyle/>
          <a:p>
            <a:pPr marL="0" indent="0" algn="l">
              <a:lnSpc>
                <a:spcPct val="92000"/>
              </a:lnSpc>
              <a:buNone/>
            </a:pPr>
            <a:r>
              <a:rPr lang="en-US" sz="2800" kern="0" spc="-56" dirty="0">
                <a:solidFill>
                  <a:srgbClr val="2E2F0E"/>
                </a:solidFill>
                <a:latin typeface="Krona One" pitchFamily="34" charset="0"/>
                <a:ea typeface="Krona One" pitchFamily="34" charset="-122"/>
                <a:cs typeface="Krona One" pitchFamily="34" charset="-120"/>
              </a:rPr>
              <a:t>Concepts that power the program</a:t>
            </a:r>
            <a:endParaRPr lang="en-US" sz="2800" dirty="0"/>
          </a:p>
        </p:txBody>
      </p:sp>
      <p:sp>
        <p:nvSpPr>
          <p:cNvPr id="5" name="Text 3"/>
          <p:cNvSpPr/>
          <p:nvPr/>
        </p:nvSpPr>
        <p:spPr>
          <a:xfrm>
            <a:off x="863578" y="2438995"/>
            <a:ext cx="817244" cy="190500"/>
          </a:xfrm>
          <a:prstGeom prst="rect">
            <a:avLst/>
          </a:prstGeom>
          <a:noFill/>
          <a:ln/>
        </p:spPr>
        <p:txBody>
          <a:bodyPr wrap="none" lIns="0" tIns="0" rIns="0" bIns="0" rtlCol="0" anchor="t"/>
          <a:lstStyle/>
          <a:p>
            <a:pPr marL="0" indent="0" algn="l">
              <a:lnSpc>
                <a:spcPct val="83000"/>
              </a:lnSpc>
              <a:buNone/>
            </a:pPr>
            <a:r>
              <a:rPr lang="en-US" sz="1500" dirty="0">
                <a:solidFill>
                  <a:srgbClr val="2E2F0E"/>
                </a:solidFill>
                <a:latin typeface="Space Grotesk SemiBold" pitchFamily="34" charset="0"/>
                <a:ea typeface="Space Grotesk SemiBold" pitchFamily="34" charset="-122"/>
                <a:cs typeface="Space Grotesk SemiBold" pitchFamily="34" charset="-120"/>
              </a:rPr>
              <a:t>01</a:t>
            </a:r>
            <a:endParaRPr lang="en-US" sz="1500" dirty="0"/>
          </a:p>
        </p:txBody>
      </p:sp>
      <p:sp>
        <p:nvSpPr>
          <p:cNvPr id="6" name="Text 4"/>
          <p:cNvSpPr/>
          <p:nvPr/>
        </p:nvSpPr>
        <p:spPr>
          <a:xfrm>
            <a:off x="1261733" y="2394545"/>
            <a:ext cx="4580121" cy="317500"/>
          </a:xfrm>
          <a:prstGeom prst="rect">
            <a:avLst/>
          </a:prstGeom>
          <a:noFill/>
          <a:ln/>
        </p:spPr>
        <p:txBody>
          <a:bodyPr wrap="none" lIns="0" tIns="0" rIns="0" bIns="0" rtlCol="0" anchor="t"/>
          <a:lstStyle/>
          <a:p>
            <a:pPr marL="0" indent="0" algn="l">
              <a:lnSpc>
                <a:spcPct val="104000"/>
              </a:lnSpc>
              <a:buNone/>
            </a:pPr>
            <a:r>
              <a:rPr lang="en-US" sz="2000" b="1" dirty="0">
                <a:solidFill>
                  <a:srgbClr val="2E2F0E"/>
                </a:solidFill>
                <a:latin typeface="Space Grotesk SemiBold" pitchFamily="34" charset="0"/>
                <a:ea typeface="Space Grotesk SemiBold" pitchFamily="34" charset="-122"/>
                <a:cs typeface="Space Grotesk SemiBold" pitchFamily="34" charset="-120"/>
              </a:rPr>
              <a:t>[CO1</a:t>
            </a:r>
            <a:r>
              <a:rPr lang="en-US" sz="2000" b="1" dirty="0">
                <a:solidFill>
                  <a:srgbClr val="2E2F0E"/>
                </a:solidFill>
                <a:latin typeface="Space Grotesk Bold" pitchFamily="34" charset="0"/>
                <a:ea typeface="Space Grotesk Bold" pitchFamily="34" charset="-122"/>
                <a:cs typeface="Space Grotesk Bold" pitchFamily="34" charset="-120"/>
              </a:rPr>
              <a:t>] :</a:t>
            </a:r>
          </a:p>
          <a:p>
            <a:pPr marL="0" indent="0" algn="l">
              <a:lnSpc>
                <a:spcPct val="104000"/>
              </a:lnSpc>
              <a:buNone/>
            </a:pPr>
            <a:endParaRPr lang="en-US" sz="2000" b="1" dirty="0">
              <a:solidFill>
                <a:srgbClr val="2E2F0E"/>
              </a:solidFill>
              <a:latin typeface="Space Grotesk Bold" pitchFamily="34" charset="0"/>
              <a:ea typeface="Space Grotesk Bold" pitchFamily="34" charset="-122"/>
              <a:cs typeface="Space Grotesk Bold" pitchFamily="34" charset="-120"/>
            </a:endParaRPr>
          </a:p>
          <a:p>
            <a:pPr marL="457200" indent="-457200" algn="l">
              <a:lnSpc>
                <a:spcPct val="104000"/>
              </a:lnSpc>
              <a:buAutoNum type="arabicPeriod"/>
            </a:pPr>
            <a:r>
              <a:rPr lang="en-US" sz="2000" b="1" dirty="0">
                <a:solidFill>
                  <a:srgbClr val="2E2F0E"/>
                </a:solidFill>
                <a:latin typeface="Space Grotesk Bold" pitchFamily="34" charset="0"/>
                <a:cs typeface="Space Grotesk Bold" pitchFamily="34" charset="-120"/>
              </a:rPr>
              <a:t>Variables</a:t>
            </a:r>
          </a:p>
          <a:p>
            <a:pPr marL="457200" indent="-457200" algn="l">
              <a:lnSpc>
                <a:spcPct val="104000"/>
              </a:lnSpc>
              <a:buAutoNum type="arabicPeriod"/>
            </a:pPr>
            <a:r>
              <a:rPr lang="en-US" sz="2000" b="1" dirty="0">
                <a:solidFill>
                  <a:srgbClr val="2E2F0E"/>
                </a:solidFill>
                <a:latin typeface="Space Grotesk Bold" pitchFamily="34" charset="0"/>
                <a:cs typeface="Space Grotesk Bold" pitchFamily="34" charset="-120"/>
              </a:rPr>
              <a:t>Data Types</a:t>
            </a:r>
          </a:p>
          <a:p>
            <a:pPr marL="457200" indent="-457200" algn="l">
              <a:lnSpc>
                <a:spcPct val="104000"/>
              </a:lnSpc>
              <a:buAutoNum type="arabicPeriod"/>
            </a:pPr>
            <a:r>
              <a:rPr lang="en-US" sz="2000" b="1" dirty="0">
                <a:solidFill>
                  <a:srgbClr val="2E2F0E"/>
                </a:solidFill>
                <a:latin typeface="Space Grotesk Bold" pitchFamily="34" charset="0"/>
                <a:cs typeface="Space Grotesk Bold" pitchFamily="34" charset="-120"/>
              </a:rPr>
              <a:t>Operators</a:t>
            </a:r>
            <a:endParaRPr lang="en-US" sz="2000" dirty="0"/>
          </a:p>
        </p:txBody>
      </p:sp>
      <p:sp>
        <p:nvSpPr>
          <p:cNvPr id="7" name="Text 5"/>
          <p:cNvSpPr/>
          <p:nvPr/>
        </p:nvSpPr>
        <p:spPr>
          <a:xfrm>
            <a:off x="6349841" y="2438995"/>
            <a:ext cx="846216" cy="190500"/>
          </a:xfrm>
          <a:prstGeom prst="rect">
            <a:avLst/>
          </a:prstGeom>
          <a:noFill/>
          <a:ln/>
        </p:spPr>
        <p:txBody>
          <a:bodyPr wrap="none" lIns="0" tIns="0" rIns="0" bIns="0" rtlCol="0" anchor="t"/>
          <a:lstStyle/>
          <a:p>
            <a:pPr marL="0" indent="0" algn="l">
              <a:lnSpc>
                <a:spcPct val="83000"/>
              </a:lnSpc>
              <a:buNone/>
            </a:pPr>
            <a:r>
              <a:rPr lang="en-US" sz="1500" dirty="0">
                <a:solidFill>
                  <a:srgbClr val="2E2F0E"/>
                </a:solidFill>
                <a:latin typeface="Space Grotesk SemiBold" pitchFamily="34" charset="0"/>
                <a:ea typeface="Space Grotesk SemiBold" pitchFamily="34" charset="-122"/>
                <a:cs typeface="Space Grotesk SemiBold" pitchFamily="34" charset="-120"/>
              </a:rPr>
              <a:t>02</a:t>
            </a:r>
            <a:endParaRPr lang="en-US" sz="1500" dirty="0"/>
          </a:p>
        </p:txBody>
      </p:sp>
      <p:sp>
        <p:nvSpPr>
          <p:cNvPr id="8" name="Text 6"/>
          <p:cNvSpPr/>
          <p:nvPr/>
        </p:nvSpPr>
        <p:spPr>
          <a:xfrm>
            <a:off x="6776967" y="2394545"/>
            <a:ext cx="4551149" cy="1882478"/>
          </a:xfrm>
          <a:prstGeom prst="rect">
            <a:avLst/>
          </a:prstGeom>
          <a:noFill/>
          <a:ln/>
        </p:spPr>
        <p:txBody>
          <a:bodyPr wrap="square" lIns="0" tIns="0" rIns="0" bIns="0" rtlCol="0" anchor="t">
            <a:normAutofit/>
          </a:bodyPr>
          <a:lstStyle/>
          <a:p>
            <a:pPr marL="0" indent="0" algn="l">
              <a:lnSpc>
                <a:spcPct val="104000"/>
              </a:lnSpc>
              <a:buNone/>
            </a:pPr>
            <a:r>
              <a:rPr lang="en-US" sz="2000" b="1" dirty="0">
                <a:solidFill>
                  <a:srgbClr val="2E2F0E"/>
                </a:solidFill>
                <a:latin typeface="Space Grotesk Bold" pitchFamily="34" charset="0"/>
                <a:ea typeface="Space Grotesk Bold" pitchFamily="34" charset="-122"/>
                <a:cs typeface="Space Grotesk Bold" pitchFamily="34" charset="-120"/>
              </a:rPr>
              <a:t>[CO2] :</a:t>
            </a:r>
          </a:p>
          <a:p>
            <a:pPr marL="0" indent="0" algn="l">
              <a:lnSpc>
                <a:spcPct val="104000"/>
              </a:lnSpc>
              <a:buNone/>
            </a:pPr>
            <a:endParaRPr lang="en-US" sz="2000" b="1" dirty="0">
              <a:solidFill>
                <a:srgbClr val="2E2F0E"/>
              </a:solidFill>
              <a:latin typeface="Space Grotesk Bold" pitchFamily="34" charset="0"/>
              <a:ea typeface="Space Grotesk Bold" pitchFamily="34" charset="-122"/>
              <a:cs typeface="Space Grotesk Bold" pitchFamily="34" charset="-120"/>
            </a:endParaRPr>
          </a:p>
          <a:p>
            <a:pPr marL="0" indent="0" algn="l">
              <a:lnSpc>
                <a:spcPct val="104000"/>
              </a:lnSpc>
              <a:buNone/>
            </a:pPr>
            <a:r>
              <a:rPr lang="en-US" sz="2000" b="1" dirty="0">
                <a:solidFill>
                  <a:srgbClr val="2E2F0E"/>
                </a:solidFill>
                <a:latin typeface="Space Grotesk Bold" pitchFamily="34" charset="0"/>
                <a:ea typeface="Space Grotesk Bold" pitchFamily="34" charset="-122"/>
                <a:cs typeface="Space Grotesk Bold" pitchFamily="34" charset="-120"/>
              </a:rPr>
              <a:t>1.Conditional Statements</a:t>
            </a:r>
          </a:p>
          <a:p>
            <a:pPr marL="0" indent="0" algn="l">
              <a:lnSpc>
                <a:spcPct val="104000"/>
              </a:lnSpc>
              <a:buNone/>
            </a:pPr>
            <a:r>
              <a:rPr lang="en-US" sz="2000" b="1" dirty="0">
                <a:solidFill>
                  <a:srgbClr val="2E2F0E"/>
                </a:solidFill>
                <a:latin typeface="Space Grotesk Bold" pitchFamily="34" charset="0"/>
                <a:ea typeface="Space Grotesk Bold" pitchFamily="34" charset="-122"/>
                <a:cs typeface="Space Grotesk Bold" pitchFamily="34" charset="-120"/>
              </a:rPr>
              <a:t>2. Switch Statements</a:t>
            </a:r>
          </a:p>
          <a:p>
            <a:pPr marL="0" indent="0" algn="l">
              <a:lnSpc>
                <a:spcPct val="104000"/>
              </a:lnSpc>
              <a:buNone/>
            </a:pPr>
            <a:r>
              <a:rPr lang="en-US" sz="2000" b="1" dirty="0">
                <a:solidFill>
                  <a:srgbClr val="2E2F0E"/>
                </a:solidFill>
                <a:latin typeface="Space Grotesk Bold" pitchFamily="34" charset="0"/>
                <a:ea typeface="Space Grotesk Bold" pitchFamily="34" charset="-122"/>
                <a:cs typeface="Space Grotesk Bold" pitchFamily="34" charset="-120"/>
              </a:rPr>
              <a:t>3. Loops</a:t>
            </a:r>
          </a:p>
          <a:p>
            <a:pPr marL="0" indent="0" algn="l">
              <a:lnSpc>
                <a:spcPct val="104000"/>
              </a:lnSpc>
              <a:buNone/>
            </a:pPr>
            <a:endParaRPr lang="en-US" sz="2000" dirty="0"/>
          </a:p>
        </p:txBody>
      </p:sp>
      <p:sp>
        <p:nvSpPr>
          <p:cNvPr id="10" name="Text 8"/>
          <p:cNvSpPr/>
          <p:nvPr/>
        </p:nvSpPr>
        <p:spPr>
          <a:xfrm>
            <a:off x="3827665" y="4346873"/>
            <a:ext cx="4549066" cy="815975"/>
          </a:xfrm>
          <a:prstGeom prst="rect">
            <a:avLst/>
          </a:prstGeom>
          <a:noFill/>
          <a:ln/>
        </p:spPr>
        <p:txBody>
          <a:bodyPr wrap="none" lIns="0" tIns="0" rIns="0" bIns="0" rtlCol="0" anchor="t"/>
          <a:lstStyle/>
          <a:p>
            <a:pPr algn="ctr">
              <a:lnSpc>
                <a:spcPct val="104000"/>
              </a:lnSpc>
            </a:pPr>
            <a:r>
              <a:rPr lang="en-US" sz="2000" dirty="0"/>
              <a:t>   </a:t>
            </a:r>
          </a:p>
        </p:txBody>
      </p:sp>
      <p:sp>
        <p:nvSpPr>
          <p:cNvPr id="11" name="Text 9"/>
          <p:cNvSpPr/>
          <p:nvPr/>
        </p:nvSpPr>
        <p:spPr>
          <a:xfrm>
            <a:off x="6349841" y="4442123"/>
            <a:ext cx="853260" cy="190500"/>
          </a:xfrm>
          <a:prstGeom prst="rect">
            <a:avLst/>
          </a:prstGeom>
          <a:noFill/>
          <a:ln/>
        </p:spPr>
        <p:txBody>
          <a:bodyPr wrap="none" lIns="0" tIns="0" rIns="0" bIns="0" rtlCol="0" anchor="t"/>
          <a:lstStyle/>
          <a:p>
            <a:pPr marL="0" indent="0" algn="l">
              <a:lnSpc>
                <a:spcPct val="83000"/>
              </a:lnSpc>
              <a:buNone/>
            </a:pPr>
            <a:endParaRPr lang="en-US" sz="1500" dirty="0"/>
          </a:p>
        </p:txBody>
      </p:sp>
      <p:sp>
        <p:nvSpPr>
          <p:cNvPr id="12" name="Text 10"/>
          <p:cNvSpPr/>
          <p:nvPr/>
        </p:nvSpPr>
        <p:spPr>
          <a:xfrm>
            <a:off x="6784012" y="4397673"/>
            <a:ext cx="4544105" cy="317500"/>
          </a:xfrm>
          <a:prstGeom prst="rect">
            <a:avLst/>
          </a:prstGeom>
          <a:noFill/>
          <a:ln/>
        </p:spPr>
        <p:txBody>
          <a:bodyPr wrap="none" lIns="0" tIns="0" rIns="0" bIns="0" rtlCol="0" anchor="t"/>
          <a:lstStyle/>
          <a:p>
            <a:pPr marL="0" indent="0" algn="l">
              <a:lnSpc>
                <a:spcPct val="104000"/>
              </a:lnSpc>
              <a:buNone/>
            </a:pPr>
            <a:endParaRPr lang="en-US" sz="2000" dirty="0"/>
          </a:p>
        </p:txBody>
      </p:sp>
      <p:sp>
        <p:nvSpPr>
          <p:cNvPr id="13" name="Shape 11"/>
          <p:cNvSpPr/>
          <p:nvPr/>
        </p:nvSpPr>
        <p:spPr>
          <a:xfrm>
            <a:off x="5439634" y="2299296"/>
            <a:ext cx="12700" cy="1977727"/>
          </a:xfrm>
          <a:prstGeom prst="rect">
            <a:avLst/>
          </a:prstGeom>
          <a:solidFill>
            <a:srgbClr val="676713"/>
          </a:solidFill>
          <a:ln/>
        </p:spPr>
      </p:sp>
      <p:sp>
        <p:nvSpPr>
          <p:cNvPr id="14" name="Shape 12"/>
          <p:cNvSpPr/>
          <p:nvPr/>
        </p:nvSpPr>
        <p:spPr>
          <a:xfrm>
            <a:off x="609585" y="4264323"/>
            <a:ext cx="5486263" cy="12700"/>
          </a:xfrm>
          <a:prstGeom prst="rect">
            <a:avLst/>
          </a:prstGeom>
          <a:solidFill>
            <a:srgbClr val="676713"/>
          </a:solidFill>
          <a:ln/>
        </p:spPr>
      </p:sp>
      <p:sp>
        <p:nvSpPr>
          <p:cNvPr id="16" name="Shape 14"/>
          <p:cNvSpPr/>
          <p:nvPr/>
        </p:nvSpPr>
        <p:spPr>
          <a:xfrm>
            <a:off x="6095848" y="4264323"/>
            <a:ext cx="5486263" cy="12700"/>
          </a:xfrm>
          <a:prstGeom prst="rect">
            <a:avLst/>
          </a:prstGeom>
          <a:solidFill>
            <a:srgbClr val="676713"/>
          </a:solidFill>
          <a:ln/>
        </p:spPr>
      </p:sp>
      <p:sp>
        <p:nvSpPr>
          <p:cNvPr id="17" name="Text 15"/>
          <p:cNvSpPr/>
          <p:nvPr/>
        </p:nvSpPr>
        <p:spPr>
          <a:xfrm>
            <a:off x="11422967" y="6461125"/>
            <a:ext cx="768728" cy="184150"/>
          </a:xfrm>
          <a:prstGeom prst="rect">
            <a:avLst/>
          </a:prstGeom>
          <a:noFill/>
          <a:ln/>
        </p:spPr>
        <p:txBody>
          <a:bodyPr wrap="none" lIns="0" tIns="0" rIns="0" bIns="0" rtlCol="0" anchor="ctr"/>
          <a:lstStyle/>
          <a:p>
            <a:pPr marL="0" indent="0" algn="l">
              <a:lnSpc>
                <a:spcPct val="121000"/>
              </a:lnSpc>
              <a:buNone/>
            </a:pPr>
            <a:r>
              <a:rPr lang="en-US" sz="1000" dirty="0">
                <a:solidFill>
                  <a:srgbClr val="2E2F0E"/>
                </a:solidFill>
                <a:latin typeface="Space Grotesk" pitchFamily="34" charset="0"/>
                <a:ea typeface="Space Grotesk" pitchFamily="34" charset="-122"/>
                <a:cs typeface="Space Grotesk" pitchFamily="34" charset="-120"/>
              </a:rPr>
              <a:t>09</a:t>
            </a:r>
            <a:endParaRPr lang="en-US" sz="1000" dirty="0"/>
          </a:p>
        </p:txBody>
      </p:sp>
      <p:pic>
        <p:nvPicPr>
          <p:cNvPr id="19" name="Picture 18">
            <a:extLst>
              <a:ext uri="{FF2B5EF4-FFF2-40B4-BE49-F238E27FC236}">
                <a16:creationId xmlns:a16="http://schemas.microsoft.com/office/drawing/2014/main" id="{405B3A7B-97ED-A389-4BF9-4080FDF37E16}"/>
              </a:ext>
            </a:extLst>
          </p:cNvPr>
          <p:cNvPicPr>
            <a:picLocks noChangeAspect="1"/>
          </p:cNvPicPr>
          <p:nvPr/>
        </p:nvPicPr>
        <p:blipFill>
          <a:blip r:embed="rId3"/>
          <a:stretch>
            <a:fillRect/>
          </a:stretch>
        </p:blipFill>
        <p:spPr>
          <a:xfrm>
            <a:off x="10381553" y="6309312"/>
            <a:ext cx="1729890" cy="548688"/>
          </a:xfrm>
          <a:prstGeom prst="rect">
            <a:avLst/>
          </a:prstGeom>
        </p:spPr>
      </p:pic>
      <p:sp>
        <p:nvSpPr>
          <p:cNvPr id="21" name="TextBox 20">
            <a:extLst>
              <a:ext uri="{FF2B5EF4-FFF2-40B4-BE49-F238E27FC236}">
                <a16:creationId xmlns:a16="http://schemas.microsoft.com/office/drawing/2014/main" id="{39C6A2C0-3C2C-55EB-A970-9DC032562DC9}"/>
              </a:ext>
            </a:extLst>
          </p:cNvPr>
          <p:cNvSpPr txBox="1"/>
          <p:nvPr/>
        </p:nvSpPr>
        <p:spPr>
          <a:xfrm>
            <a:off x="4711650" y="4551343"/>
            <a:ext cx="2245487" cy="1600438"/>
          </a:xfrm>
          <a:prstGeom prst="rect">
            <a:avLst/>
          </a:prstGeom>
          <a:noFill/>
        </p:spPr>
        <p:txBody>
          <a:bodyPr wrap="none" rtlCol="0">
            <a:spAutoFit/>
          </a:bodyPr>
          <a:lstStyle/>
          <a:p>
            <a:r>
              <a:rPr lang="en-US" sz="1500" dirty="0">
                <a:solidFill>
                  <a:srgbClr val="2E2F0E"/>
                </a:solidFill>
                <a:latin typeface="Space Grotesk SemiBold" pitchFamily="34" charset="0"/>
                <a:ea typeface="Space Grotesk SemiBold" pitchFamily="34" charset="-122"/>
                <a:cs typeface="Space Grotesk SemiBold" pitchFamily="34" charset="-120"/>
              </a:rPr>
              <a:t>03</a:t>
            </a:r>
            <a:r>
              <a:rPr lang="en-US" sz="1600" dirty="0">
                <a:solidFill>
                  <a:srgbClr val="2E2F0E"/>
                </a:solidFill>
                <a:latin typeface="Space Grotesk SemiBold" pitchFamily="34" charset="0"/>
                <a:ea typeface="Space Grotesk SemiBold" pitchFamily="34" charset="-122"/>
                <a:cs typeface="Space Grotesk SemiBold" pitchFamily="34" charset="-120"/>
              </a:rPr>
              <a:t>    </a:t>
            </a:r>
            <a:r>
              <a:rPr lang="en-US" sz="2000" dirty="0">
                <a:solidFill>
                  <a:srgbClr val="2E2F0E"/>
                </a:solidFill>
                <a:latin typeface="Space Grotesk SemiBold" pitchFamily="34" charset="0"/>
                <a:ea typeface="Space Grotesk SemiBold" pitchFamily="34" charset="-122"/>
                <a:cs typeface="Space Grotesk SemiBold" pitchFamily="34" charset="-120"/>
              </a:rPr>
              <a:t>[CO3] :</a:t>
            </a:r>
          </a:p>
          <a:p>
            <a:r>
              <a:rPr lang="en-US" sz="1600" dirty="0">
                <a:solidFill>
                  <a:srgbClr val="2E2F0E"/>
                </a:solidFill>
                <a:latin typeface="Space Grotesk SemiBold" pitchFamily="34" charset="0"/>
                <a:ea typeface="Space Grotesk SemiBold" pitchFamily="34" charset="-122"/>
                <a:cs typeface="Space Grotesk SemiBold" pitchFamily="34" charset="-120"/>
              </a:rPr>
              <a:t>          </a:t>
            </a:r>
            <a:r>
              <a:rPr lang="en-US" dirty="0">
                <a:solidFill>
                  <a:srgbClr val="2E2F0E"/>
                </a:solidFill>
                <a:latin typeface="Space Grotesk SemiBold" pitchFamily="34" charset="0"/>
                <a:ea typeface="Space Grotesk SemiBold" pitchFamily="34" charset="-122"/>
                <a:cs typeface="Space Grotesk SemiBold" pitchFamily="34" charset="-120"/>
              </a:rPr>
              <a:t> </a:t>
            </a:r>
            <a:endParaRPr lang="en-US" dirty="0"/>
          </a:p>
          <a:p>
            <a:r>
              <a:rPr lang="en-IN" dirty="0"/>
              <a:t>         </a:t>
            </a:r>
            <a:r>
              <a:rPr lang="en-IN" sz="2000" b="1" dirty="0"/>
              <a:t>1.   1D – Array</a:t>
            </a:r>
          </a:p>
          <a:p>
            <a:r>
              <a:rPr lang="en-IN" sz="2000" b="1" dirty="0"/>
              <a:t>         2.   2D – Array</a:t>
            </a:r>
          </a:p>
          <a:p>
            <a:r>
              <a:rPr lang="en-IN" sz="2000" b="1" dirty="0"/>
              <a:t>         3.   Methods</a:t>
            </a:r>
          </a:p>
        </p:txBody>
      </p:sp>
      <p:pic>
        <p:nvPicPr>
          <p:cNvPr id="23" name="Picture 22">
            <a:extLst>
              <a:ext uri="{FF2B5EF4-FFF2-40B4-BE49-F238E27FC236}">
                <a16:creationId xmlns:a16="http://schemas.microsoft.com/office/drawing/2014/main" id="{515568B1-50AE-ACD4-1A87-BBEB7B3D4EE1}"/>
              </a:ext>
            </a:extLst>
          </p:cNvPr>
          <p:cNvPicPr>
            <a:picLocks noChangeAspect="1"/>
          </p:cNvPicPr>
          <p:nvPr/>
        </p:nvPicPr>
        <p:blipFill>
          <a:blip r:embed="rId4"/>
          <a:stretch>
            <a:fillRect/>
          </a:stretch>
        </p:blipFill>
        <p:spPr>
          <a:xfrm>
            <a:off x="10536414" y="0"/>
            <a:ext cx="1655281" cy="97473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09585" y="558800"/>
            <a:ext cx="2614150" cy="152400"/>
          </a:xfrm>
          <a:prstGeom prst="rect">
            <a:avLst/>
          </a:prstGeom>
          <a:noFill/>
          <a:ln/>
        </p:spPr>
        <p:txBody>
          <a:bodyPr wrap="none" lIns="0" tIns="0" rIns="0" bIns="0" rtlCol="0" anchor="t"/>
          <a:lstStyle/>
          <a:p>
            <a:pPr marL="0" indent="0" algn="l">
              <a:lnSpc>
                <a:spcPct val="100000"/>
              </a:lnSpc>
              <a:buNone/>
            </a:pPr>
            <a:r>
              <a:rPr lang="en-US" sz="1000" kern="0" spc="50" dirty="0">
                <a:solidFill>
                  <a:srgbClr val="676713"/>
                </a:solidFill>
                <a:latin typeface="Krona One" pitchFamily="34" charset="0"/>
                <a:ea typeface="Krona One" pitchFamily="34" charset="-122"/>
                <a:cs typeface="Krona One" pitchFamily="34" charset="-120"/>
              </a:rPr>
              <a:t>08 · FUTURE SCOPE</a:t>
            </a:r>
            <a:endParaRPr lang="en-US" sz="1000" dirty="0"/>
          </a:p>
        </p:txBody>
      </p:sp>
      <p:sp>
        <p:nvSpPr>
          <p:cNvPr id="3" name="Shape 1"/>
          <p:cNvSpPr/>
          <p:nvPr/>
        </p:nvSpPr>
        <p:spPr>
          <a:xfrm>
            <a:off x="3401431" y="619125"/>
            <a:ext cx="3921225" cy="31651"/>
          </a:xfrm>
          <a:prstGeom prst="roundRect">
            <a:avLst>
              <a:gd name="adj" fmla="val 49998"/>
            </a:avLst>
          </a:prstGeom>
          <a:solidFill>
            <a:srgbClr val="B7AC55"/>
          </a:solidFill>
          <a:ln/>
        </p:spPr>
      </p:sp>
      <p:sp>
        <p:nvSpPr>
          <p:cNvPr id="4" name="Text 2"/>
          <p:cNvSpPr/>
          <p:nvPr/>
        </p:nvSpPr>
        <p:spPr>
          <a:xfrm>
            <a:off x="609585" y="1120775"/>
            <a:ext cx="6713072" cy="782241"/>
          </a:xfrm>
          <a:prstGeom prst="rect">
            <a:avLst/>
          </a:prstGeom>
          <a:noFill/>
          <a:ln/>
        </p:spPr>
        <p:txBody>
          <a:bodyPr wrap="square" lIns="0" tIns="0" rIns="0" bIns="0" rtlCol="0" anchor="t">
            <a:normAutofit lnSpcReduction="10000"/>
          </a:bodyPr>
          <a:lstStyle/>
          <a:p>
            <a:pPr marL="0" indent="0" algn="l">
              <a:lnSpc>
                <a:spcPct val="92000"/>
              </a:lnSpc>
              <a:buNone/>
            </a:pPr>
            <a:r>
              <a:rPr lang="en-US" sz="2800" kern="0" spc="-56" dirty="0">
                <a:solidFill>
                  <a:srgbClr val="2E2F0E"/>
                </a:solidFill>
                <a:latin typeface="Krona One" pitchFamily="34" charset="0"/>
                <a:ea typeface="Krona One" pitchFamily="34" charset="-122"/>
                <a:cs typeface="Krona One" pitchFamily="34" charset="-120"/>
              </a:rPr>
              <a:t>From local console to complete booking service</a:t>
            </a:r>
            <a:endParaRPr lang="en-US" sz="2800" dirty="0"/>
          </a:p>
        </p:txBody>
      </p:sp>
      <p:sp>
        <p:nvSpPr>
          <p:cNvPr id="5" name="Text 3"/>
          <p:cNvSpPr/>
          <p:nvPr/>
        </p:nvSpPr>
        <p:spPr>
          <a:xfrm>
            <a:off x="609585" y="2318941"/>
            <a:ext cx="6713072" cy="276225"/>
          </a:xfrm>
          <a:prstGeom prst="rect">
            <a:avLst/>
          </a:prstGeom>
          <a:noFill/>
          <a:ln/>
        </p:spPr>
        <p:txBody>
          <a:bodyPr wrap="none" lIns="0" tIns="0" rIns="0" bIns="0" rtlCol="0" anchor="t"/>
          <a:lstStyle/>
          <a:p>
            <a:pPr marL="0" indent="0" algn="l">
              <a:lnSpc>
                <a:spcPct val="121000"/>
              </a:lnSpc>
              <a:buNone/>
            </a:pPr>
            <a:r>
              <a:rPr lang="en-US" sz="1500" b="1" dirty="0">
                <a:solidFill>
                  <a:srgbClr val="2E2F0E"/>
                </a:solidFill>
                <a:latin typeface="Space Grotesk Bold" pitchFamily="34" charset="0"/>
                <a:ea typeface="Space Grotesk Bold" pitchFamily="34" charset="-122"/>
                <a:cs typeface="Space Grotesk Bold" pitchFamily="34" charset="-120"/>
              </a:rPr>
              <a:t>Interface</a:t>
            </a:r>
            <a:r>
              <a:rPr lang="en-US" sz="1500" dirty="0">
                <a:solidFill>
                  <a:srgbClr val="2E2F0E"/>
                </a:solidFill>
                <a:latin typeface="Space Grotesk" pitchFamily="34" charset="0"/>
                <a:ea typeface="Space Grotesk" pitchFamily="34" charset="-122"/>
                <a:cs typeface="Space Grotesk" pitchFamily="34" charset="-120"/>
              </a:rPr>
              <a:t> — Add a web or graphical interface.</a:t>
            </a:r>
            <a:endParaRPr lang="en-US" sz="1500" dirty="0"/>
          </a:p>
        </p:txBody>
      </p:sp>
      <p:sp>
        <p:nvSpPr>
          <p:cNvPr id="6" name="Text 4"/>
          <p:cNvSpPr/>
          <p:nvPr/>
        </p:nvSpPr>
        <p:spPr>
          <a:xfrm>
            <a:off x="609585" y="3327499"/>
            <a:ext cx="6713072" cy="276225"/>
          </a:xfrm>
          <a:prstGeom prst="rect">
            <a:avLst/>
          </a:prstGeom>
          <a:noFill/>
          <a:ln/>
        </p:spPr>
        <p:txBody>
          <a:bodyPr wrap="none" lIns="0" tIns="0" rIns="0" bIns="0" rtlCol="0" anchor="t"/>
          <a:lstStyle/>
          <a:p>
            <a:pPr marL="0" indent="0" algn="l">
              <a:lnSpc>
                <a:spcPct val="121000"/>
              </a:lnSpc>
              <a:buNone/>
            </a:pPr>
            <a:r>
              <a:rPr lang="en-US" sz="1500" b="1" dirty="0">
                <a:solidFill>
                  <a:srgbClr val="2E2F0E"/>
                </a:solidFill>
                <a:latin typeface="Space Grotesk Bold" pitchFamily="34" charset="0"/>
                <a:ea typeface="Space Grotesk Bold" pitchFamily="34" charset="-122"/>
                <a:cs typeface="Space Grotesk Bold" pitchFamily="34" charset="-120"/>
              </a:rPr>
              <a:t>Data</a:t>
            </a:r>
            <a:r>
              <a:rPr lang="en-US" sz="1500" dirty="0">
                <a:solidFill>
                  <a:srgbClr val="2E2F0E"/>
                </a:solidFill>
                <a:latin typeface="Space Grotesk" pitchFamily="34" charset="0"/>
                <a:ea typeface="Space Grotesk" pitchFamily="34" charset="-122"/>
                <a:cs typeface="Space Grotesk" pitchFamily="34" charset="-120"/>
              </a:rPr>
              <a:t> — Connect a database for permanent booking records.</a:t>
            </a:r>
            <a:endParaRPr lang="en-US" sz="1500" dirty="0"/>
          </a:p>
        </p:txBody>
      </p:sp>
      <p:sp>
        <p:nvSpPr>
          <p:cNvPr id="7" name="Text 5"/>
          <p:cNvSpPr/>
          <p:nvPr/>
        </p:nvSpPr>
        <p:spPr>
          <a:xfrm>
            <a:off x="609585" y="4336058"/>
            <a:ext cx="6713072" cy="276225"/>
          </a:xfrm>
          <a:prstGeom prst="rect">
            <a:avLst/>
          </a:prstGeom>
          <a:noFill/>
          <a:ln/>
        </p:spPr>
        <p:txBody>
          <a:bodyPr wrap="none" lIns="0" tIns="0" rIns="0" bIns="0" rtlCol="0" anchor="t"/>
          <a:lstStyle/>
          <a:p>
            <a:pPr marL="0" indent="0" algn="l">
              <a:lnSpc>
                <a:spcPct val="121000"/>
              </a:lnSpc>
              <a:buNone/>
            </a:pPr>
            <a:r>
              <a:rPr lang="en-US" sz="1500" b="1" dirty="0">
                <a:solidFill>
                  <a:srgbClr val="2E2F0E"/>
                </a:solidFill>
                <a:latin typeface="Space Grotesk Bold" pitchFamily="34" charset="0"/>
                <a:ea typeface="Space Grotesk Bold" pitchFamily="34" charset="-122"/>
                <a:cs typeface="Space Grotesk Bold" pitchFamily="34" charset="-120"/>
              </a:rPr>
              <a:t>Access</a:t>
            </a:r>
            <a:r>
              <a:rPr lang="en-US" sz="1500" dirty="0">
                <a:solidFill>
                  <a:srgbClr val="2E2F0E"/>
                </a:solidFill>
                <a:latin typeface="Space Grotesk" pitchFamily="34" charset="0"/>
                <a:ea typeface="Space Grotesk" pitchFamily="34" charset="-122"/>
                <a:cs typeface="Space Grotesk" pitchFamily="34" charset="-120"/>
              </a:rPr>
              <a:t> — Add user login and account management.</a:t>
            </a:r>
            <a:endParaRPr lang="en-US" sz="1500" dirty="0"/>
          </a:p>
        </p:txBody>
      </p:sp>
      <p:sp>
        <p:nvSpPr>
          <p:cNvPr id="8" name="Text 6"/>
          <p:cNvSpPr/>
          <p:nvPr/>
        </p:nvSpPr>
        <p:spPr>
          <a:xfrm>
            <a:off x="609585" y="5344616"/>
            <a:ext cx="6713072" cy="552450"/>
          </a:xfrm>
          <a:prstGeom prst="rect">
            <a:avLst/>
          </a:prstGeom>
          <a:noFill/>
          <a:ln/>
        </p:spPr>
        <p:txBody>
          <a:bodyPr wrap="square" lIns="0" tIns="0" rIns="0" bIns="0" rtlCol="0" anchor="t">
            <a:normAutofit/>
          </a:bodyPr>
          <a:lstStyle/>
          <a:p>
            <a:pPr marL="0" indent="0" algn="l">
              <a:lnSpc>
                <a:spcPct val="121000"/>
              </a:lnSpc>
              <a:buNone/>
            </a:pPr>
            <a:r>
              <a:rPr lang="en-US" sz="1500" b="1" dirty="0">
                <a:solidFill>
                  <a:srgbClr val="2E2F0E"/>
                </a:solidFill>
                <a:latin typeface="Space Grotesk Bold" pitchFamily="34" charset="0"/>
                <a:ea typeface="Space Grotesk Bold" pitchFamily="34" charset="-122"/>
                <a:cs typeface="Space Grotesk Bold" pitchFamily="34" charset="-120"/>
              </a:rPr>
              <a:t>Booking service</a:t>
            </a:r>
            <a:r>
              <a:rPr lang="en-US" sz="1500" dirty="0">
                <a:solidFill>
                  <a:srgbClr val="2E2F0E"/>
                </a:solidFill>
                <a:latin typeface="Space Grotesk" pitchFamily="34" charset="0"/>
                <a:ea typeface="Space Grotesk" pitchFamily="34" charset="-122"/>
                <a:cs typeface="Space Grotesk" pitchFamily="34" charset="-120"/>
              </a:rPr>
              <a:t> — Support payments, movie and show-time selection, real-time availability, and ticket generation.</a:t>
            </a:r>
            <a:endParaRPr lang="en-US" sz="1500" dirty="0"/>
          </a:p>
        </p:txBody>
      </p:sp>
      <p:pic>
        <p:nvPicPr>
          <p:cNvPr id="9" name="Image 0" descr="preencoded.png"/>
          <p:cNvPicPr>
            <a:picLocks noChangeAspect="1"/>
          </p:cNvPicPr>
          <p:nvPr/>
        </p:nvPicPr>
        <p:blipFill>
          <a:blip r:embed="rId3"/>
          <a:stretch>
            <a:fillRect/>
          </a:stretch>
        </p:blipFill>
        <p:spPr>
          <a:xfrm>
            <a:off x="8084538" y="0"/>
            <a:ext cx="4107157" cy="6858000"/>
          </a:xfrm>
          <a:prstGeom prst="rect">
            <a:avLst/>
          </a:prstGeom>
        </p:spPr>
      </p:pic>
      <p:sp>
        <p:nvSpPr>
          <p:cNvPr id="10" name="Shape 7"/>
          <p:cNvSpPr/>
          <p:nvPr/>
        </p:nvSpPr>
        <p:spPr>
          <a:xfrm>
            <a:off x="609585" y="3143349"/>
            <a:ext cx="6713072" cy="12700"/>
          </a:xfrm>
          <a:prstGeom prst="rect">
            <a:avLst/>
          </a:prstGeom>
          <a:solidFill>
            <a:srgbClr val="676713"/>
          </a:solidFill>
          <a:ln/>
        </p:spPr>
      </p:sp>
      <p:sp>
        <p:nvSpPr>
          <p:cNvPr id="11" name="Shape 8"/>
          <p:cNvSpPr/>
          <p:nvPr/>
        </p:nvSpPr>
        <p:spPr>
          <a:xfrm>
            <a:off x="609585" y="4151908"/>
            <a:ext cx="6713072" cy="12700"/>
          </a:xfrm>
          <a:prstGeom prst="rect">
            <a:avLst/>
          </a:prstGeom>
          <a:solidFill>
            <a:srgbClr val="676713"/>
          </a:solidFill>
          <a:ln/>
        </p:spPr>
      </p:sp>
      <p:sp>
        <p:nvSpPr>
          <p:cNvPr id="12" name="Shape 9"/>
          <p:cNvSpPr/>
          <p:nvPr/>
        </p:nvSpPr>
        <p:spPr>
          <a:xfrm>
            <a:off x="609585" y="5160466"/>
            <a:ext cx="6713072" cy="12700"/>
          </a:xfrm>
          <a:prstGeom prst="rect">
            <a:avLst/>
          </a:prstGeom>
          <a:solidFill>
            <a:srgbClr val="676713"/>
          </a:solidFill>
          <a:ln/>
        </p:spPr>
      </p:sp>
      <p:sp>
        <p:nvSpPr>
          <p:cNvPr id="13" name="Text 10"/>
          <p:cNvSpPr/>
          <p:nvPr/>
        </p:nvSpPr>
        <p:spPr>
          <a:xfrm>
            <a:off x="609585" y="6461125"/>
            <a:ext cx="768728" cy="184150"/>
          </a:xfrm>
          <a:prstGeom prst="rect">
            <a:avLst/>
          </a:prstGeom>
          <a:noFill/>
          <a:ln/>
        </p:spPr>
        <p:txBody>
          <a:bodyPr wrap="none" lIns="0" tIns="0" rIns="0" bIns="0" rtlCol="0" anchor="ctr"/>
          <a:lstStyle/>
          <a:p>
            <a:pPr marL="0" indent="0" algn="l">
              <a:lnSpc>
                <a:spcPct val="121000"/>
              </a:lnSpc>
              <a:buNone/>
            </a:pPr>
            <a:r>
              <a:rPr lang="en-US" sz="1000" dirty="0">
                <a:solidFill>
                  <a:srgbClr val="2E2F0E"/>
                </a:solidFill>
                <a:latin typeface="Space Grotesk" pitchFamily="34" charset="0"/>
                <a:ea typeface="Space Grotesk" pitchFamily="34" charset="-122"/>
                <a:cs typeface="Space Grotesk" pitchFamily="34" charset="-120"/>
              </a:rPr>
              <a:t>06</a:t>
            </a:r>
            <a:endParaRPr lang="en-US" sz="1000" dirty="0"/>
          </a:p>
        </p:txBody>
      </p:sp>
      <p:pic>
        <p:nvPicPr>
          <p:cNvPr id="15" name="Picture 14">
            <a:extLst>
              <a:ext uri="{FF2B5EF4-FFF2-40B4-BE49-F238E27FC236}">
                <a16:creationId xmlns:a16="http://schemas.microsoft.com/office/drawing/2014/main" id="{BE64A37A-6ACE-B6A3-A356-DF8C061868DB}"/>
              </a:ext>
            </a:extLst>
          </p:cNvPr>
          <p:cNvPicPr>
            <a:picLocks noChangeAspect="1"/>
          </p:cNvPicPr>
          <p:nvPr/>
        </p:nvPicPr>
        <p:blipFill>
          <a:blip r:embed="rId4"/>
          <a:stretch>
            <a:fillRect/>
          </a:stretch>
        </p:blipFill>
        <p:spPr>
          <a:xfrm>
            <a:off x="10462110" y="6278856"/>
            <a:ext cx="1729890" cy="548688"/>
          </a:xfrm>
          <a:prstGeom prst="rect">
            <a:avLst/>
          </a:prstGeom>
        </p:spPr>
      </p:pic>
      <p:pic>
        <p:nvPicPr>
          <p:cNvPr id="16" name="Picture 15">
            <a:extLst>
              <a:ext uri="{FF2B5EF4-FFF2-40B4-BE49-F238E27FC236}">
                <a16:creationId xmlns:a16="http://schemas.microsoft.com/office/drawing/2014/main" id="{3A0E7CC7-0682-ECF7-CDBF-38A27A8EB7BF}"/>
              </a:ext>
            </a:extLst>
          </p:cNvPr>
          <p:cNvPicPr>
            <a:picLocks noChangeAspect="1"/>
          </p:cNvPicPr>
          <p:nvPr/>
        </p:nvPicPr>
        <p:blipFill>
          <a:blip r:embed="rId5"/>
          <a:stretch>
            <a:fillRect/>
          </a:stretch>
        </p:blipFill>
        <p:spPr>
          <a:xfrm>
            <a:off x="10536719" y="0"/>
            <a:ext cx="1655281" cy="97473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09585" y="609600"/>
            <a:ext cx="3598276" cy="113506"/>
          </a:xfrm>
          <a:prstGeom prst="rect">
            <a:avLst/>
          </a:prstGeom>
          <a:noFill/>
          <a:ln/>
        </p:spPr>
        <p:txBody>
          <a:bodyPr wrap="none" lIns="0" tIns="0" rIns="0" bIns="0" rtlCol="0" anchor="t"/>
          <a:lstStyle/>
          <a:p>
            <a:pPr marL="0" indent="0" algn="l">
              <a:lnSpc>
                <a:spcPct val="100000"/>
              </a:lnSpc>
              <a:buNone/>
            </a:pPr>
            <a:r>
              <a:rPr lang="en-US" sz="750" kern="0" spc="37" dirty="0">
                <a:solidFill>
                  <a:srgbClr val="676713"/>
                </a:solidFill>
                <a:latin typeface="Krona One" pitchFamily="34" charset="0"/>
                <a:ea typeface="Krona One" pitchFamily="34" charset="-122"/>
                <a:cs typeface="Krona One" pitchFamily="34" charset="-120"/>
              </a:rPr>
              <a:t>09 · SYSTEM WORKFLOW</a:t>
            </a:r>
            <a:endParaRPr lang="en-US" sz="750" dirty="0"/>
          </a:p>
        </p:txBody>
      </p:sp>
      <p:sp>
        <p:nvSpPr>
          <p:cNvPr id="3" name="Shape 1"/>
          <p:cNvSpPr/>
          <p:nvPr/>
        </p:nvSpPr>
        <p:spPr>
          <a:xfrm>
            <a:off x="3097932" y="656828"/>
            <a:ext cx="7196454" cy="19050"/>
          </a:xfrm>
          <a:prstGeom prst="roundRect">
            <a:avLst>
              <a:gd name="adj" fmla="val 49999"/>
            </a:avLst>
          </a:prstGeom>
          <a:solidFill>
            <a:srgbClr val="B7AC55"/>
          </a:solidFill>
          <a:ln/>
        </p:spPr>
      </p:sp>
      <p:sp>
        <p:nvSpPr>
          <p:cNvPr id="4" name="Text 2"/>
          <p:cNvSpPr/>
          <p:nvPr/>
        </p:nvSpPr>
        <p:spPr>
          <a:xfrm>
            <a:off x="609585" y="950615"/>
            <a:ext cx="8889778" cy="291505"/>
          </a:xfrm>
          <a:prstGeom prst="rect">
            <a:avLst/>
          </a:prstGeom>
          <a:noFill/>
          <a:ln/>
        </p:spPr>
        <p:txBody>
          <a:bodyPr wrap="none" lIns="0" tIns="0" rIns="0" bIns="0" rtlCol="0" anchor="t"/>
          <a:lstStyle/>
          <a:p>
            <a:pPr marL="0" indent="0" algn="l">
              <a:lnSpc>
                <a:spcPct val="92000"/>
              </a:lnSpc>
              <a:buNone/>
            </a:pPr>
            <a:r>
              <a:rPr lang="en-US" sz="2100" kern="0" spc="-42" dirty="0">
                <a:solidFill>
                  <a:srgbClr val="2E2F0E"/>
                </a:solidFill>
                <a:latin typeface="Krona One" pitchFamily="34" charset="0"/>
                <a:ea typeface="Krona One" pitchFamily="34" charset="-122"/>
                <a:cs typeface="Krona One" pitchFamily="34" charset="-120"/>
              </a:rPr>
              <a:t>One menu connects every booking action</a:t>
            </a:r>
            <a:endParaRPr lang="en-US" sz="2100" dirty="0"/>
          </a:p>
        </p:txBody>
      </p:sp>
      <p:pic>
        <p:nvPicPr>
          <p:cNvPr id="5" name="Image 0" descr="preencoded.png"/>
          <p:cNvPicPr>
            <a:picLocks noChangeAspect="1"/>
          </p:cNvPicPr>
          <p:nvPr/>
        </p:nvPicPr>
        <p:blipFill>
          <a:blip r:embed="rId3"/>
          <a:stretch>
            <a:fillRect/>
          </a:stretch>
        </p:blipFill>
        <p:spPr>
          <a:xfrm>
            <a:off x="609585" y="1787922"/>
            <a:ext cx="3562856" cy="1428750"/>
          </a:xfrm>
          <a:prstGeom prst="rect">
            <a:avLst/>
          </a:prstGeom>
        </p:spPr>
      </p:pic>
      <p:sp>
        <p:nvSpPr>
          <p:cNvPr id="6" name="Text 3"/>
          <p:cNvSpPr/>
          <p:nvPr/>
        </p:nvSpPr>
        <p:spPr>
          <a:xfrm>
            <a:off x="751563" y="2355850"/>
            <a:ext cx="3278899" cy="201116"/>
          </a:xfrm>
          <a:prstGeom prst="rect">
            <a:avLst/>
          </a:prstGeom>
          <a:noFill/>
          <a:ln/>
        </p:spPr>
        <p:txBody>
          <a:bodyPr wrap="none" lIns="0" tIns="0" rIns="0" bIns="0" rtlCol="0" anchor="t"/>
          <a:lstStyle/>
          <a:p>
            <a:pPr marL="0" indent="0" algn="l">
              <a:lnSpc>
                <a:spcPct val="104000"/>
              </a:lnSpc>
              <a:buNone/>
            </a:pPr>
            <a:r>
              <a:rPr lang="en-US" sz="1250" kern="0" spc="-25" dirty="0">
                <a:solidFill>
                  <a:srgbClr val="2E2F0E"/>
                </a:solidFill>
                <a:latin typeface="Krona One" pitchFamily="34" charset="0"/>
                <a:ea typeface="Krona One" pitchFamily="34" charset="-122"/>
                <a:cs typeface="Krona One" pitchFamily="34" charset="-120"/>
              </a:rPr>
              <a:t>Start</a:t>
            </a:r>
            <a:endParaRPr lang="en-US" sz="1250" dirty="0"/>
          </a:p>
        </p:txBody>
      </p:sp>
      <p:sp>
        <p:nvSpPr>
          <p:cNvPr id="7" name="Text 4"/>
          <p:cNvSpPr/>
          <p:nvPr/>
        </p:nvSpPr>
        <p:spPr>
          <a:xfrm>
            <a:off x="751563" y="2642096"/>
            <a:ext cx="3278899" cy="179586"/>
          </a:xfrm>
          <a:prstGeom prst="rect">
            <a:avLst/>
          </a:prstGeom>
          <a:noFill/>
          <a:ln/>
        </p:spPr>
        <p:txBody>
          <a:bodyPr wrap="none" lIns="0" tIns="0" rIns="0" bIns="0" rtlCol="0" anchor="t"/>
          <a:lstStyle/>
          <a:p>
            <a:pPr marL="0" indent="0" algn="l">
              <a:lnSpc>
                <a:spcPct val="105000"/>
              </a:lnSpc>
              <a:buNone/>
            </a:pPr>
            <a:r>
              <a:rPr lang="en-US" sz="1100" dirty="0">
                <a:solidFill>
                  <a:srgbClr val="2E2F0E"/>
                </a:solidFill>
                <a:latin typeface="Space Grotesk" pitchFamily="34" charset="0"/>
                <a:ea typeface="Space Grotesk" pitchFamily="34" charset="-122"/>
                <a:cs typeface="Space Grotesk" pitchFamily="34" charset="-120"/>
              </a:rPr>
              <a:t>Run the local program.</a:t>
            </a:r>
            <a:endParaRPr lang="en-US" sz="1100" dirty="0"/>
          </a:p>
        </p:txBody>
      </p:sp>
      <p:pic>
        <p:nvPicPr>
          <p:cNvPr id="8" name="Image 1" descr="preencoded.png"/>
          <p:cNvPicPr>
            <a:picLocks noChangeAspect="1"/>
          </p:cNvPicPr>
          <p:nvPr/>
        </p:nvPicPr>
        <p:blipFill>
          <a:blip r:embed="rId4"/>
          <a:stretch>
            <a:fillRect/>
          </a:stretch>
        </p:blipFill>
        <p:spPr>
          <a:xfrm>
            <a:off x="4314419" y="1574899"/>
            <a:ext cx="3562856" cy="1428750"/>
          </a:xfrm>
          <a:prstGeom prst="rect">
            <a:avLst/>
          </a:prstGeom>
        </p:spPr>
      </p:pic>
      <p:sp>
        <p:nvSpPr>
          <p:cNvPr id="9" name="Text 5"/>
          <p:cNvSpPr/>
          <p:nvPr/>
        </p:nvSpPr>
        <p:spPr>
          <a:xfrm>
            <a:off x="4456398" y="2142827"/>
            <a:ext cx="3278899" cy="201116"/>
          </a:xfrm>
          <a:prstGeom prst="rect">
            <a:avLst/>
          </a:prstGeom>
          <a:noFill/>
          <a:ln/>
        </p:spPr>
        <p:txBody>
          <a:bodyPr wrap="none" lIns="0" tIns="0" rIns="0" bIns="0" rtlCol="0" anchor="t"/>
          <a:lstStyle/>
          <a:p>
            <a:pPr marL="0" indent="0" algn="l">
              <a:lnSpc>
                <a:spcPct val="104000"/>
              </a:lnSpc>
              <a:buNone/>
            </a:pPr>
            <a:r>
              <a:rPr lang="en-US" sz="1250" kern="0" spc="-25" dirty="0">
                <a:solidFill>
                  <a:srgbClr val="2E2F0E"/>
                </a:solidFill>
                <a:latin typeface="Krona One" pitchFamily="34" charset="0"/>
                <a:ea typeface="Krona One" pitchFamily="34" charset="-122"/>
                <a:cs typeface="Krona One" pitchFamily="34" charset="-120"/>
              </a:rPr>
              <a:t>Display menu</a:t>
            </a:r>
            <a:endParaRPr lang="en-US" sz="1250" dirty="0"/>
          </a:p>
        </p:txBody>
      </p:sp>
      <p:sp>
        <p:nvSpPr>
          <p:cNvPr id="10" name="Text 6"/>
          <p:cNvSpPr/>
          <p:nvPr/>
        </p:nvSpPr>
        <p:spPr>
          <a:xfrm>
            <a:off x="4456398" y="2429073"/>
            <a:ext cx="3278899" cy="179586"/>
          </a:xfrm>
          <a:prstGeom prst="rect">
            <a:avLst/>
          </a:prstGeom>
          <a:noFill/>
          <a:ln/>
        </p:spPr>
        <p:txBody>
          <a:bodyPr wrap="none" lIns="0" tIns="0" rIns="0" bIns="0" rtlCol="0" anchor="t"/>
          <a:lstStyle/>
          <a:p>
            <a:pPr marL="0" indent="0" algn="l">
              <a:lnSpc>
                <a:spcPct val="105000"/>
              </a:lnSpc>
              <a:buNone/>
            </a:pPr>
            <a:r>
              <a:rPr lang="en-US" sz="1100" dirty="0">
                <a:solidFill>
                  <a:srgbClr val="2E2F0E"/>
                </a:solidFill>
                <a:latin typeface="Space Grotesk" pitchFamily="34" charset="0"/>
                <a:ea typeface="Space Grotesk" pitchFamily="34" charset="-122"/>
                <a:cs typeface="Space Grotesk" pitchFamily="34" charset="-120"/>
              </a:rPr>
              <a:t>Show the available operations.</a:t>
            </a:r>
            <a:endParaRPr lang="en-US" sz="1100" dirty="0"/>
          </a:p>
        </p:txBody>
      </p:sp>
      <p:pic>
        <p:nvPicPr>
          <p:cNvPr id="11" name="Image 2" descr="preencoded.png"/>
          <p:cNvPicPr>
            <a:picLocks noChangeAspect="1"/>
          </p:cNvPicPr>
          <p:nvPr/>
        </p:nvPicPr>
        <p:blipFill>
          <a:blip r:embed="rId5"/>
          <a:stretch>
            <a:fillRect/>
          </a:stretch>
        </p:blipFill>
        <p:spPr>
          <a:xfrm>
            <a:off x="8019254" y="1361976"/>
            <a:ext cx="3562856" cy="1428750"/>
          </a:xfrm>
          <a:prstGeom prst="rect">
            <a:avLst/>
          </a:prstGeom>
        </p:spPr>
      </p:pic>
      <p:sp>
        <p:nvSpPr>
          <p:cNvPr id="12" name="Text 7"/>
          <p:cNvSpPr/>
          <p:nvPr/>
        </p:nvSpPr>
        <p:spPr>
          <a:xfrm>
            <a:off x="8161233" y="1929904"/>
            <a:ext cx="3278899" cy="201116"/>
          </a:xfrm>
          <a:prstGeom prst="rect">
            <a:avLst/>
          </a:prstGeom>
          <a:noFill/>
          <a:ln/>
        </p:spPr>
        <p:txBody>
          <a:bodyPr wrap="none" lIns="0" tIns="0" rIns="0" bIns="0" rtlCol="0" anchor="t"/>
          <a:lstStyle/>
          <a:p>
            <a:pPr marL="0" indent="0" algn="l">
              <a:lnSpc>
                <a:spcPct val="104000"/>
              </a:lnSpc>
              <a:buNone/>
            </a:pPr>
            <a:r>
              <a:rPr lang="en-US" sz="1250" kern="0" spc="-25" dirty="0">
                <a:solidFill>
                  <a:srgbClr val="2E2F0E"/>
                </a:solidFill>
                <a:latin typeface="Krona One" pitchFamily="34" charset="0"/>
                <a:ea typeface="Krona One" pitchFamily="34" charset="-122"/>
                <a:cs typeface="Krona One" pitchFamily="34" charset="-120"/>
              </a:rPr>
              <a:t>Choose operation</a:t>
            </a:r>
            <a:endParaRPr lang="en-US" sz="1250" dirty="0"/>
          </a:p>
        </p:txBody>
      </p:sp>
      <p:sp>
        <p:nvSpPr>
          <p:cNvPr id="13" name="Text 8"/>
          <p:cNvSpPr/>
          <p:nvPr/>
        </p:nvSpPr>
        <p:spPr>
          <a:xfrm>
            <a:off x="8161233" y="2216150"/>
            <a:ext cx="3278899" cy="179586"/>
          </a:xfrm>
          <a:prstGeom prst="rect">
            <a:avLst/>
          </a:prstGeom>
          <a:noFill/>
          <a:ln/>
        </p:spPr>
        <p:txBody>
          <a:bodyPr wrap="none" lIns="0" tIns="0" rIns="0" bIns="0" rtlCol="0" anchor="t"/>
          <a:lstStyle/>
          <a:p>
            <a:pPr marL="0" indent="0" algn="l">
              <a:lnSpc>
                <a:spcPct val="105000"/>
              </a:lnSpc>
              <a:buNone/>
            </a:pPr>
            <a:r>
              <a:rPr lang="en-US" sz="1100" dirty="0">
                <a:solidFill>
                  <a:srgbClr val="2E2F0E"/>
                </a:solidFill>
                <a:latin typeface="Space Grotesk" pitchFamily="34" charset="0"/>
                <a:ea typeface="Space Grotesk" pitchFamily="34" charset="-122"/>
                <a:cs typeface="Space Grotesk" pitchFamily="34" charset="-120"/>
              </a:rPr>
              <a:t>Select view, book, cancel, or history.</a:t>
            </a:r>
            <a:endParaRPr lang="en-US" sz="1100" dirty="0"/>
          </a:p>
        </p:txBody>
      </p:sp>
      <p:pic>
        <p:nvPicPr>
          <p:cNvPr id="14" name="Image 3" descr="preencoded.png"/>
          <p:cNvPicPr>
            <a:picLocks noChangeAspect="1"/>
          </p:cNvPicPr>
          <p:nvPr/>
        </p:nvPicPr>
        <p:blipFill>
          <a:blip r:embed="rId3"/>
          <a:stretch>
            <a:fillRect/>
          </a:stretch>
        </p:blipFill>
        <p:spPr>
          <a:xfrm>
            <a:off x="609585" y="3531592"/>
            <a:ext cx="3562856" cy="1428750"/>
          </a:xfrm>
          <a:prstGeom prst="rect">
            <a:avLst/>
          </a:prstGeom>
        </p:spPr>
      </p:pic>
      <p:sp>
        <p:nvSpPr>
          <p:cNvPr id="15" name="Text 9"/>
          <p:cNvSpPr/>
          <p:nvPr/>
        </p:nvSpPr>
        <p:spPr>
          <a:xfrm>
            <a:off x="751563" y="4099520"/>
            <a:ext cx="3278899" cy="201116"/>
          </a:xfrm>
          <a:prstGeom prst="rect">
            <a:avLst/>
          </a:prstGeom>
          <a:noFill/>
          <a:ln/>
        </p:spPr>
        <p:txBody>
          <a:bodyPr wrap="none" lIns="0" tIns="0" rIns="0" bIns="0" rtlCol="0" anchor="t"/>
          <a:lstStyle/>
          <a:p>
            <a:pPr marL="0" indent="0" algn="l">
              <a:lnSpc>
                <a:spcPct val="104000"/>
              </a:lnSpc>
              <a:buNone/>
            </a:pPr>
            <a:r>
              <a:rPr lang="en-US" sz="1250" kern="0" spc="-25" dirty="0">
                <a:solidFill>
                  <a:srgbClr val="2E2F0E"/>
                </a:solidFill>
                <a:latin typeface="Krona One" pitchFamily="34" charset="0"/>
                <a:ea typeface="Krona One" pitchFamily="34" charset="-122"/>
                <a:cs typeface="Krona One" pitchFamily="34" charset="-120"/>
              </a:rPr>
              <a:t>Validate input</a:t>
            </a:r>
            <a:endParaRPr lang="en-US" sz="1250" dirty="0"/>
          </a:p>
        </p:txBody>
      </p:sp>
      <p:sp>
        <p:nvSpPr>
          <p:cNvPr id="16" name="Text 10"/>
          <p:cNvSpPr/>
          <p:nvPr/>
        </p:nvSpPr>
        <p:spPr>
          <a:xfrm>
            <a:off x="751563" y="4385766"/>
            <a:ext cx="3278899" cy="179586"/>
          </a:xfrm>
          <a:prstGeom prst="rect">
            <a:avLst/>
          </a:prstGeom>
          <a:noFill/>
          <a:ln/>
        </p:spPr>
        <p:txBody>
          <a:bodyPr wrap="none" lIns="0" tIns="0" rIns="0" bIns="0" rtlCol="0" anchor="t"/>
          <a:lstStyle/>
          <a:p>
            <a:pPr marL="0" indent="0" algn="l">
              <a:lnSpc>
                <a:spcPct val="105000"/>
              </a:lnSpc>
              <a:buNone/>
            </a:pPr>
            <a:r>
              <a:rPr lang="en-US" sz="1100" dirty="0">
                <a:solidFill>
                  <a:srgbClr val="2E2F0E"/>
                </a:solidFill>
                <a:latin typeface="Space Grotesk" pitchFamily="34" charset="0"/>
                <a:ea typeface="Space Grotesk" pitchFamily="34" charset="-122"/>
                <a:cs typeface="Space Grotesk" pitchFamily="34" charset="-120"/>
              </a:rPr>
              <a:t>Check that the choice and seat action are valid.</a:t>
            </a:r>
            <a:endParaRPr lang="en-US" sz="1100" dirty="0"/>
          </a:p>
        </p:txBody>
      </p:sp>
      <p:pic>
        <p:nvPicPr>
          <p:cNvPr id="17" name="Image 4" descr="preencoded.png"/>
          <p:cNvPicPr>
            <a:picLocks noChangeAspect="1"/>
          </p:cNvPicPr>
          <p:nvPr/>
        </p:nvPicPr>
        <p:blipFill>
          <a:blip r:embed="rId4"/>
          <a:stretch>
            <a:fillRect/>
          </a:stretch>
        </p:blipFill>
        <p:spPr>
          <a:xfrm>
            <a:off x="4314419" y="3318570"/>
            <a:ext cx="3562856" cy="1428750"/>
          </a:xfrm>
          <a:prstGeom prst="rect">
            <a:avLst/>
          </a:prstGeom>
        </p:spPr>
      </p:pic>
      <p:sp>
        <p:nvSpPr>
          <p:cNvPr id="18" name="Text 11"/>
          <p:cNvSpPr/>
          <p:nvPr/>
        </p:nvSpPr>
        <p:spPr>
          <a:xfrm>
            <a:off x="4456398" y="3886498"/>
            <a:ext cx="3278899" cy="201116"/>
          </a:xfrm>
          <a:prstGeom prst="rect">
            <a:avLst/>
          </a:prstGeom>
          <a:noFill/>
          <a:ln/>
        </p:spPr>
        <p:txBody>
          <a:bodyPr wrap="none" lIns="0" tIns="0" rIns="0" bIns="0" rtlCol="0" anchor="t"/>
          <a:lstStyle/>
          <a:p>
            <a:pPr marL="0" indent="0" algn="l">
              <a:lnSpc>
                <a:spcPct val="104000"/>
              </a:lnSpc>
              <a:buNone/>
            </a:pPr>
            <a:r>
              <a:rPr lang="en-US" sz="1250" kern="0" spc="-25" dirty="0">
                <a:solidFill>
                  <a:srgbClr val="2E2F0E"/>
                </a:solidFill>
                <a:latin typeface="Krona One" pitchFamily="34" charset="0"/>
                <a:ea typeface="Krona One" pitchFamily="34" charset="-122"/>
                <a:cs typeface="Krona One" pitchFamily="34" charset="-120"/>
              </a:rPr>
              <a:t>Update information</a:t>
            </a:r>
            <a:endParaRPr lang="en-US" sz="1250" dirty="0"/>
          </a:p>
        </p:txBody>
      </p:sp>
      <p:sp>
        <p:nvSpPr>
          <p:cNvPr id="19" name="Text 12"/>
          <p:cNvSpPr/>
          <p:nvPr/>
        </p:nvSpPr>
        <p:spPr>
          <a:xfrm>
            <a:off x="4456398" y="4172744"/>
            <a:ext cx="3278899" cy="179586"/>
          </a:xfrm>
          <a:prstGeom prst="rect">
            <a:avLst/>
          </a:prstGeom>
          <a:noFill/>
          <a:ln/>
        </p:spPr>
        <p:txBody>
          <a:bodyPr wrap="none" lIns="0" tIns="0" rIns="0" bIns="0" rtlCol="0" anchor="t"/>
          <a:lstStyle/>
          <a:p>
            <a:pPr marL="0" indent="0" algn="l">
              <a:lnSpc>
                <a:spcPct val="105000"/>
              </a:lnSpc>
              <a:buNone/>
            </a:pPr>
            <a:r>
              <a:rPr lang="en-US" sz="1100" dirty="0">
                <a:solidFill>
                  <a:srgbClr val="2E2F0E"/>
                </a:solidFill>
                <a:latin typeface="Space Grotesk" pitchFamily="34" charset="0"/>
                <a:ea typeface="Space Grotesk" pitchFamily="34" charset="-122"/>
                <a:cs typeface="Space Grotesk" pitchFamily="34" charset="-120"/>
              </a:rPr>
              <a:t>Apply the booking or cancellation.</a:t>
            </a:r>
            <a:endParaRPr lang="en-US" sz="1100" dirty="0"/>
          </a:p>
        </p:txBody>
      </p:sp>
      <p:pic>
        <p:nvPicPr>
          <p:cNvPr id="20" name="Image 5" descr="preencoded.png"/>
          <p:cNvPicPr>
            <a:picLocks noChangeAspect="1"/>
          </p:cNvPicPr>
          <p:nvPr/>
        </p:nvPicPr>
        <p:blipFill>
          <a:blip r:embed="rId5"/>
          <a:stretch>
            <a:fillRect/>
          </a:stretch>
        </p:blipFill>
        <p:spPr>
          <a:xfrm>
            <a:off x="8019254" y="3105646"/>
            <a:ext cx="3562856" cy="1428750"/>
          </a:xfrm>
          <a:prstGeom prst="rect">
            <a:avLst/>
          </a:prstGeom>
        </p:spPr>
      </p:pic>
      <p:sp>
        <p:nvSpPr>
          <p:cNvPr id="21" name="Text 13"/>
          <p:cNvSpPr/>
          <p:nvPr/>
        </p:nvSpPr>
        <p:spPr>
          <a:xfrm>
            <a:off x="8161233" y="3673574"/>
            <a:ext cx="3278899" cy="201116"/>
          </a:xfrm>
          <a:prstGeom prst="rect">
            <a:avLst/>
          </a:prstGeom>
          <a:noFill/>
          <a:ln/>
        </p:spPr>
        <p:txBody>
          <a:bodyPr wrap="none" lIns="0" tIns="0" rIns="0" bIns="0" rtlCol="0" anchor="t"/>
          <a:lstStyle/>
          <a:p>
            <a:pPr marL="0" indent="0" algn="l">
              <a:lnSpc>
                <a:spcPct val="104000"/>
              </a:lnSpc>
              <a:buNone/>
            </a:pPr>
            <a:r>
              <a:rPr lang="en-US" sz="1250" kern="0" spc="-25" dirty="0">
                <a:solidFill>
                  <a:srgbClr val="2E2F0E"/>
                </a:solidFill>
                <a:latin typeface="Krona One" pitchFamily="34" charset="0"/>
                <a:ea typeface="Krona One" pitchFamily="34" charset="-122"/>
                <a:cs typeface="Krona One" pitchFamily="34" charset="-120"/>
              </a:rPr>
              <a:t>Show result</a:t>
            </a:r>
            <a:endParaRPr lang="en-US" sz="1250" dirty="0"/>
          </a:p>
        </p:txBody>
      </p:sp>
      <p:sp>
        <p:nvSpPr>
          <p:cNvPr id="22" name="Text 14"/>
          <p:cNvSpPr/>
          <p:nvPr/>
        </p:nvSpPr>
        <p:spPr>
          <a:xfrm>
            <a:off x="8161233" y="3959820"/>
            <a:ext cx="3278899" cy="179586"/>
          </a:xfrm>
          <a:prstGeom prst="rect">
            <a:avLst/>
          </a:prstGeom>
          <a:noFill/>
          <a:ln/>
        </p:spPr>
        <p:txBody>
          <a:bodyPr wrap="none" lIns="0" tIns="0" rIns="0" bIns="0" rtlCol="0" anchor="t"/>
          <a:lstStyle/>
          <a:p>
            <a:pPr marL="0" indent="0" algn="l">
              <a:lnSpc>
                <a:spcPct val="105000"/>
              </a:lnSpc>
              <a:buNone/>
            </a:pPr>
            <a:r>
              <a:rPr lang="en-US" sz="1100" dirty="0">
                <a:solidFill>
                  <a:srgbClr val="2E2F0E"/>
                </a:solidFill>
                <a:latin typeface="Space Grotesk" pitchFamily="34" charset="0"/>
                <a:ea typeface="Space Grotesk" pitchFamily="34" charset="-122"/>
                <a:cs typeface="Space Grotesk" pitchFamily="34" charset="-120"/>
              </a:rPr>
              <a:t>Display the response.</a:t>
            </a:r>
            <a:endParaRPr lang="en-US" sz="1100" dirty="0"/>
          </a:p>
        </p:txBody>
      </p:sp>
      <p:pic>
        <p:nvPicPr>
          <p:cNvPr id="23" name="Image 6" descr="preencoded.png"/>
          <p:cNvPicPr>
            <a:picLocks noChangeAspect="1"/>
          </p:cNvPicPr>
          <p:nvPr/>
        </p:nvPicPr>
        <p:blipFill>
          <a:blip r:embed="rId3"/>
          <a:stretch>
            <a:fillRect/>
          </a:stretch>
        </p:blipFill>
        <p:spPr>
          <a:xfrm>
            <a:off x="609585" y="5275263"/>
            <a:ext cx="3562856" cy="1428750"/>
          </a:xfrm>
          <a:prstGeom prst="rect">
            <a:avLst/>
          </a:prstGeom>
        </p:spPr>
      </p:pic>
      <p:sp>
        <p:nvSpPr>
          <p:cNvPr id="24" name="Text 15"/>
          <p:cNvSpPr/>
          <p:nvPr/>
        </p:nvSpPr>
        <p:spPr>
          <a:xfrm>
            <a:off x="751563" y="5843191"/>
            <a:ext cx="3278899" cy="201116"/>
          </a:xfrm>
          <a:prstGeom prst="rect">
            <a:avLst/>
          </a:prstGeom>
          <a:noFill/>
          <a:ln/>
        </p:spPr>
        <p:txBody>
          <a:bodyPr wrap="none" lIns="0" tIns="0" rIns="0" bIns="0" rtlCol="0" anchor="t"/>
          <a:lstStyle/>
          <a:p>
            <a:pPr marL="0" indent="0" algn="l">
              <a:lnSpc>
                <a:spcPct val="104000"/>
              </a:lnSpc>
              <a:buNone/>
            </a:pPr>
            <a:r>
              <a:rPr lang="en-US" sz="1250" kern="0" spc="-25" dirty="0">
                <a:solidFill>
                  <a:srgbClr val="2E2F0E"/>
                </a:solidFill>
                <a:latin typeface="Krona One" pitchFamily="34" charset="0"/>
                <a:ea typeface="Krona One" pitchFamily="34" charset="-122"/>
                <a:cs typeface="Krona One" pitchFamily="34" charset="-120"/>
              </a:rPr>
              <a:t>Return or exit</a:t>
            </a:r>
            <a:endParaRPr lang="en-US" sz="1250" dirty="0"/>
          </a:p>
        </p:txBody>
      </p:sp>
      <p:sp>
        <p:nvSpPr>
          <p:cNvPr id="25" name="Text 16"/>
          <p:cNvSpPr/>
          <p:nvPr/>
        </p:nvSpPr>
        <p:spPr>
          <a:xfrm>
            <a:off x="751563" y="6129437"/>
            <a:ext cx="3278899" cy="179586"/>
          </a:xfrm>
          <a:prstGeom prst="rect">
            <a:avLst/>
          </a:prstGeom>
          <a:noFill/>
          <a:ln/>
        </p:spPr>
        <p:txBody>
          <a:bodyPr wrap="none" lIns="0" tIns="0" rIns="0" bIns="0" rtlCol="0" anchor="t"/>
          <a:lstStyle/>
          <a:p>
            <a:pPr marL="0" indent="0" algn="l">
              <a:lnSpc>
                <a:spcPct val="105000"/>
              </a:lnSpc>
              <a:buNone/>
            </a:pPr>
            <a:r>
              <a:rPr lang="en-US" sz="1100" dirty="0">
                <a:solidFill>
                  <a:srgbClr val="2E2F0E"/>
                </a:solidFill>
                <a:latin typeface="Space Grotesk" pitchFamily="34" charset="0"/>
                <a:ea typeface="Space Grotesk" pitchFamily="34" charset="-122"/>
                <a:cs typeface="Space Grotesk" pitchFamily="34" charset="-120"/>
              </a:rPr>
              <a:t>Go back to the menu or end the program.</a:t>
            </a:r>
            <a:endParaRPr lang="en-US" sz="1100" dirty="0"/>
          </a:p>
        </p:txBody>
      </p:sp>
      <p:sp>
        <p:nvSpPr>
          <p:cNvPr id="26" name="Text 17"/>
          <p:cNvSpPr/>
          <p:nvPr/>
        </p:nvSpPr>
        <p:spPr>
          <a:xfrm>
            <a:off x="609585" y="6505674"/>
            <a:ext cx="11582110" cy="140593"/>
          </a:xfrm>
          <a:prstGeom prst="rect">
            <a:avLst/>
          </a:prstGeom>
          <a:noFill/>
          <a:ln/>
        </p:spPr>
        <p:txBody>
          <a:bodyPr wrap="none" lIns="0" tIns="0" rIns="0" bIns="0" rtlCol="0" anchor="t"/>
          <a:lstStyle/>
          <a:p>
            <a:pPr marL="0" indent="0" algn="l">
              <a:lnSpc>
                <a:spcPct val="112000"/>
              </a:lnSpc>
              <a:buNone/>
            </a:pPr>
            <a:r>
              <a:rPr lang="en-US" sz="800" dirty="0">
                <a:solidFill>
                  <a:srgbClr val="5F5D3F"/>
                </a:solidFill>
                <a:latin typeface="Space Grotesk" pitchFamily="34" charset="0"/>
                <a:ea typeface="Space Grotesk" pitchFamily="34" charset="-122"/>
                <a:cs typeface="Space Grotesk" pitchFamily="34" charset="-120"/>
              </a:rPr>
              <a:t>View seats · Book · Cancel · View history</a:t>
            </a:r>
            <a:endParaRPr lang="en-US" sz="800" dirty="0"/>
          </a:p>
        </p:txBody>
      </p:sp>
      <p:sp>
        <p:nvSpPr>
          <p:cNvPr id="27" name="Text 18"/>
          <p:cNvSpPr/>
          <p:nvPr/>
        </p:nvSpPr>
        <p:spPr>
          <a:xfrm>
            <a:off x="11447573" y="6461125"/>
            <a:ext cx="744122" cy="184150"/>
          </a:xfrm>
          <a:prstGeom prst="rect">
            <a:avLst/>
          </a:prstGeom>
          <a:noFill/>
          <a:ln/>
        </p:spPr>
        <p:txBody>
          <a:bodyPr wrap="none" lIns="0" tIns="0" rIns="0" bIns="0" rtlCol="0" anchor="ctr"/>
          <a:lstStyle/>
          <a:p>
            <a:pPr marL="0" indent="0" algn="l">
              <a:lnSpc>
                <a:spcPct val="121000"/>
              </a:lnSpc>
              <a:buNone/>
            </a:pPr>
            <a:r>
              <a:rPr lang="en-US" sz="1000" dirty="0">
                <a:solidFill>
                  <a:srgbClr val="2E2F0E"/>
                </a:solidFill>
                <a:latin typeface="Space Grotesk" pitchFamily="34" charset="0"/>
                <a:ea typeface="Space Grotesk" pitchFamily="34" charset="-122"/>
                <a:cs typeface="Space Grotesk" pitchFamily="34" charset="-120"/>
              </a:rPr>
              <a:t>10</a:t>
            </a:r>
            <a:endParaRPr lang="en-US" sz="1000" dirty="0"/>
          </a:p>
        </p:txBody>
      </p:sp>
      <p:pic>
        <p:nvPicPr>
          <p:cNvPr id="29" name="Picture 28">
            <a:extLst>
              <a:ext uri="{FF2B5EF4-FFF2-40B4-BE49-F238E27FC236}">
                <a16:creationId xmlns:a16="http://schemas.microsoft.com/office/drawing/2014/main" id="{B2F9FF51-A715-6D15-56FA-47122AD28E7C}"/>
              </a:ext>
            </a:extLst>
          </p:cNvPr>
          <p:cNvPicPr>
            <a:picLocks noChangeAspect="1"/>
          </p:cNvPicPr>
          <p:nvPr/>
        </p:nvPicPr>
        <p:blipFill>
          <a:blip r:embed="rId6"/>
          <a:stretch>
            <a:fillRect/>
          </a:stretch>
        </p:blipFill>
        <p:spPr>
          <a:xfrm>
            <a:off x="10440649" y="6269600"/>
            <a:ext cx="1729890" cy="548688"/>
          </a:xfrm>
          <a:prstGeom prst="rect">
            <a:avLst/>
          </a:prstGeom>
        </p:spPr>
      </p:pic>
      <p:pic>
        <p:nvPicPr>
          <p:cNvPr id="30" name="Picture 29">
            <a:extLst>
              <a:ext uri="{FF2B5EF4-FFF2-40B4-BE49-F238E27FC236}">
                <a16:creationId xmlns:a16="http://schemas.microsoft.com/office/drawing/2014/main" id="{C45102CA-CC26-F711-A202-9EACD2706646}"/>
              </a:ext>
            </a:extLst>
          </p:cNvPr>
          <p:cNvPicPr>
            <a:picLocks noChangeAspect="1"/>
          </p:cNvPicPr>
          <p:nvPr/>
        </p:nvPicPr>
        <p:blipFill>
          <a:blip r:embed="rId7"/>
          <a:stretch>
            <a:fillRect/>
          </a:stretch>
        </p:blipFill>
        <p:spPr>
          <a:xfrm>
            <a:off x="10536719" y="9412"/>
            <a:ext cx="1655281" cy="97473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11666</TotalTime>
  <Words>934</Words>
  <Application>Microsoft Office PowerPoint</Application>
  <PresentationFormat>Widescreen</PresentationFormat>
  <Paragraphs>134</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Space Grotesk</vt:lpstr>
      <vt:lpstr>Arial</vt:lpstr>
      <vt:lpstr>Space Grotesk Bold</vt:lpstr>
      <vt:lpstr>Krona One</vt:lpstr>
      <vt:lpstr>Space Grotesk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vayyala dhikshitha</cp:lastModifiedBy>
  <cp:revision>3</cp:revision>
  <dcterms:created xsi:type="dcterms:W3CDTF">2026-09-25T16:22:47Z</dcterms:created>
  <dcterms:modified xsi:type="dcterms:W3CDTF">2026-10-12T13:53:45Z</dcterms:modified>
</cp:coreProperties>
</file>